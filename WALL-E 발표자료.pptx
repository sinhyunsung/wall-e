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3" r:id="rId3"/>
    <p:sldId id="279" r:id="rId4"/>
    <p:sldId id="322" r:id="rId5"/>
    <p:sldId id="313" r:id="rId6"/>
    <p:sldId id="323" r:id="rId7"/>
    <p:sldId id="335" r:id="rId8"/>
    <p:sldId id="325" r:id="rId9"/>
    <p:sldId id="324" r:id="rId10"/>
    <p:sldId id="327" r:id="rId11"/>
    <p:sldId id="328" r:id="rId12"/>
    <p:sldId id="329" r:id="rId13"/>
    <p:sldId id="330" r:id="rId14"/>
    <p:sldId id="331" r:id="rId15"/>
    <p:sldId id="326" r:id="rId16"/>
    <p:sldId id="336" r:id="rId17"/>
    <p:sldId id="332" r:id="rId18"/>
    <p:sldId id="337" r:id="rId19"/>
    <p:sldId id="338" r:id="rId20"/>
    <p:sldId id="339" r:id="rId21"/>
    <p:sldId id="333" r:id="rId22"/>
    <p:sldId id="334" r:id="rId23"/>
  </p:sldIdLst>
  <p:sldSz cx="9906000" cy="6858000" type="A4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2E00"/>
    <a:srgbClr val="262626"/>
    <a:srgbClr val="5F5F5F"/>
    <a:srgbClr val="000000"/>
    <a:srgbClr val="FFFFFF"/>
    <a:srgbClr val="C91C1D"/>
    <a:srgbClr val="122B4A"/>
    <a:srgbClr val="404F21"/>
    <a:srgbClr val="C7A913"/>
    <a:srgbClr val="E8C5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6437" autoAdjust="0"/>
  </p:normalViewPr>
  <p:slideViewPr>
    <p:cSldViewPr>
      <p:cViewPr varScale="1">
        <p:scale>
          <a:sx n="77" d="100"/>
          <a:sy n="77" d="100"/>
        </p:scale>
        <p:origin x="-786" y="-51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5686" tIns="47843" rIns="95686" bIns="4784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5686" tIns="47843" rIns="95686" bIns="47843" rtlCol="0"/>
          <a:lstStyle>
            <a:lvl1pPr algn="r">
              <a:defRPr sz="1300"/>
            </a:lvl1pPr>
          </a:lstStyle>
          <a:p>
            <a:fld id="{F25F4E48-68E1-4BB1-9CA5-6A6E30F3E36D}" type="datetimeFigureOut">
              <a:rPr lang="ko-KR" altLang="en-US" smtClean="0"/>
              <a:t>2017-12-18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686" tIns="47843" rIns="95686" bIns="4784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5686" tIns="47843" rIns="95686" bIns="47843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5686" tIns="47843" rIns="95686" bIns="4784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5686" tIns="47843" rIns="95686" bIns="47843" rtlCol="0" anchor="b"/>
          <a:lstStyle>
            <a:lvl1pPr algn="r">
              <a:defRPr sz="1300"/>
            </a:lvl1pPr>
          </a:lstStyle>
          <a:p>
            <a:fld id="{6C5A4F86-C80D-4A48-8852-DE65FD957F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895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96E3D-863A-43CB-A884-1242DF398EC5}" type="datetime1">
              <a:rPr lang="ko-KR" altLang="en-US" smtClean="0"/>
              <a:t>2017-12-18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4E17-EA00-48D7-9432-ACBDEAD517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8401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3D3B-1B0B-4A9B-B790-BF43EB89F049}" type="datetime1">
              <a:rPr lang="ko-KR" altLang="en-US" smtClean="0"/>
              <a:t>2017-12-18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4E17-EA00-48D7-9432-ACBDEAD517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7298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511A7-C6D3-490F-821D-A0C98B660A08}" type="datetime1">
              <a:rPr lang="ko-KR" altLang="en-US" smtClean="0"/>
              <a:t>2017-12-18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4E17-EA00-48D7-9432-ACBDEAD517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104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AC88-F925-41B5-A4A7-FC60F7B0CC2F}" type="datetime1">
              <a:rPr lang="ko-KR" altLang="en-US" smtClean="0"/>
              <a:t>2017-12-18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4E17-EA00-48D7-9432-ACBDEAD517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419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CAED-637F-4EC1-8E27-0F525DE32356}" type="datetime1">
              <a:rPr lang="ko-KR" altLang="en-US" smtClean="0"/>
              <a:t>2017-12-18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4E17-EA00-48D7-9432-ACBDEAD517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2285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90B3-2C5D-4008-A706-4145971C83B6}" type="datetime1">
              <a:rPr lang="ko-KR" altLang="en-US" smtClean="0"/>
              <a:t>2017-12-18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4E17-EA00-48D7-9432-ACBDEAD517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831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8F3-7B67-4102-8A36-7F9EBBA5AE07}" type="datetime1">
              <a:rPr lang="ko-KR" altLang="en-US" smtClean="0"/>
              <a:t>2017-12-18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74866" y="649673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C4E17-EA00-48D7-9432-ACBDEAD517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4822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FECC5-0CB1-41FE-BAF2-1D0BF715A667}" type="datetime1">
              <a:rPr lang="ko-KR" altLang="en-US" smtClean="0"/>
              <a:t>2017-12-18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4E17-EA00-48D7-9432-ACBDEAD517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9993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7CA17-F180-4044-9C8C-BEE3E4F0C329}" type="datetime1">
              <a:rPr lang="ko-KR" altLang="en-US" smtClean="0"/>
              <a:t>2017-12-18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4E17-EA00-48D7-9432-ACBDEAD517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495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0B2D7-714F-4D76-B2E7-D7729ABE2C84}" type="datetime1">
              <a:rPr lang="ko-KR" altLang="en-US" smtClean="0"/>
              <a:t>2017-12-18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4E17-EA00-48D7-9432-ACBDEAD517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865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AB1DC-7E93-4497-ACA5-CE4AF36E7D1D}" type="datetime1">
              <a:rPr lang="ko-KR" altLang="en-US" smtClean="0"/>
              <a:t>2017-12-18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4E17-EA00-48D7-9432-ACBDEAD517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782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66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D15B6-D266-437C-830B-8FB748F7AFCF}" type="datetime1">
              <a:rPr lang="ko-KR" altLang="en-US" smtClean="0"/>
              <a:t>2017-12-18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74866" y="649673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C4E17-EA00-48D7-9432-ACBDEAD5179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-87560" y="6830702"/>
            <a:ext cx="10081120" cy="864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7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4E17-EA00-48D7-9432-ACBDEAD51795}" type="slidenum">
              <a:rPr lang="ko-KR" altLang="en-US" smtClean="0"/>
              <a:t>1</a:t>
            </a:fld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2612740" y="2583219"/>
            <a:ext cx="4680520" cy="2231313"/>
            <a:chOff x="2612739" y="2583219"/>
            <a:chExt cx="4680520" cy="2231313"/>
          </a:xfrm>
        </p:grpSpPr>
        <p:sp>
          <p:nvSpPr>
            <p:cNvPr id="5" name="TextBox 4"/>
            <p:cNvSpPr txBox="1"/>
            <p:nvPr/>
          </p:nvSpPr>
          <p:spPr>
            <a:xfrm>
              <a:off x="3915705" y="2583219"/>
              <a:ext cx="207460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dirty="0" smtClean="0">
                  <a:gradFill>
                    <a:gsLst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bg1">
                          <a:lumMod val="9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atin typeface="Adobe 고딕 Std B" panose="020B0800000000000000" pitchFamily="34" charset="-127"/>
                  <a:ea typeface="Adobe 고딕 Std B" panose="020B0800000000000000" pitchFamily="34" charset="-127"/>
                </a:rPr>
                <a:t>WALL – E</a:t>
              </a:r>
              <a:endParaRPr lang="ko-KR" altLang="en-US" sz="3200" dirty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390989" y="4506755"/>
              <a:ext cx="11240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dirty="0" smtClean="0">
                  <a:gradFill>
                    <a:gsLst>
                      <a:gs pos="100000">
                        <a:schemeClr val="bg1">
                          <a:lumMod val="50000"/>
                        </a:schemeClr>
                      </a:gs>
                      <a:gs pos="100000">
                        <a:schemeClr val="bg1">
                          <a:lumMod val="9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atin typeface="Adobe 고딕 Std B" panose="020B0800000000000000" pitchFamily="34" charset="-127"/>
                  <a:ea typeface="Adobe 고딕 Std B" panose="020B0800000000000000" pitchFamily="34" charset="-127"/>
                </a:rPr>
                <a:t>2017.12.18</a:t>
              </a:r>
              <a:endParaRPr lang="ko-KR" altLang="en-US" sz="1400" dirty="0">
                <a:gradFill>
                  <a:gsLst>
                    <a:gs pos="10000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endParaRPr>
            </a:p>
          </p:txBody>
        </p:sp>
        <p:cxnSp>
          <p:nvCxnSpPr>
            <p:cNvPr id="11" name="직선 연결선 10"/>
            <p:cNvCxnSpPr/>
            <p:nvPr/>
          </p:nvCxnSpPr>
          <p:spPr>
            <a:xfrm>
              <a:off x="2612739" y="3211031"/>
              <a:ext cx="4680520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/>
          <p:cNvSpPr txBox="1"/>
          <p:nvPr/>
        </p:nvSpPr>
        <p:spPr>
          <a:xfrm>
            <a:off x="3361859" y="3674227"/>
            <a:ext cx="3182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Arduino End of term project</a:t>
            </a:r>
            <a:endParaRPr lang="ko-KR" altLang="en-US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994552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/>
          <p:cNvSpPr/>
          <p:nvPr/>
        </p:nvSpPr>
        <p:spPr>
          <a:xfrm>
            <a:off x="1208584" y="1971869"/>
            <a:ext cx="1566790" cy="4001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Raleway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38917" y="1971869"/>
            <a:ext cx="1266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+mj-ea"/>
              </a:rPr>
              <a:t>Contents</a:t>
            </a:r>
            <a:endParaRPr lang="ko-KR" altLang="en-US" sz="2000" dirty="0">
              <a:gradFill>
                <a:gsLst>
                  <a:gs pos="100000">
                    <a:schemeClr val="bg1"/>
                  </a:gs>
                  <a:gs pos="100000">
                    <a:schemeClr val="bg1">
                      <a:lumMod val="90000"/>
                    </a:schemeClr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  <a:ea typeface="+mj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112741"/>
              </p:ext>
            </p:extLst>
          </p:nvPr>
        </p:nvGraphicFramePr>
        <p:xfrm>
          <a:off x="1538919" y="2620330"/>
          <a:ext cx="8203455" cy="3732190"/>
        </p:xfrm>
        <a:graphic>
          <a:graphicData uri="http://schemas.openxmlformats.org/drawingml/2006/table">
            <a:tbl>
              <a:tblPr firstRow="1" bandRow="1"/>
              <a:tblGrid>
                <a:gridCol w="553468"/>
                <a:gridCol w="553468"/>
                <a:gridCol w="1299033"/>
                <a:gridCol w="216024"/>
                <a:gridCol w="432048"/>
                <a:gridCol w="576064"/>
                <a:gridCol w="399203"/>
                <a:gridCol w="1172101"/>
                <a:gridCol w="226850"/>
                <a:gridCol w="470940"/>
                <a:gridCol w="632942"/>
                <a:gridCol w="591274"/>
                <a:gridCol w="1080040"/>
              </a:tblGrid>
              <a:tr h="346050">
                <a:tc>
                  <a:txBody>
                    <a:bodyPr/>
                    <a:lstStyle/>
                    <a:p>
                      <a:pPr marL="0" indent="0" algn="r" latinLnBrk="1">
                        <a:buNone/>
                      </a:pPr>
                      <a:r>
                        <a:rPr lang="en-US" altLang="ko-KR" sz="12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01.</a:t>
                      </a:r>
                      <a:endParaRPr lang="ko-KR" altLang="en-US" sz="12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팀 소개</a:t>
                      </a:r>
                      <a:endParaRPr lang="ko-KR" altLang="en-US" sz="12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02.</a:t>
                      </a:r>
                      <a:endParaRPr lang="ko-KR" altLang="en-US" sz="12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프로젝트 개요</a:t>
                      </a:r>
                      <a:endParaRPr lang="ko-KR" altLang="en-US" sz="12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03.</a:t>
                      </a:r>
                      <a:endParaRPr lang="ko-KR" altLang="en-US" sz="12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시스템 구성도</a:t>
                      </a:r>
                      <a:endParaRPr lang="ko-KR" altLang="en-US" sz="12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1)</a:t>
                      </a:r>
                      <a:endParaRPr lang="ko-KR" altLang="en-US" sz="10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임태양</a:t>
                      </a:r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1)</a:t>
                      </a:r>
                      <a:endParaRPr lang="ko-KR" altLang="en-US" sz="10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작품 동기</a:t>
                      </a:r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1)</a:t>
                      </a:r>
                      <a:endParaRPr lang="ko-KR" altLang="en-US" sz="10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구성도</a:t>
                      </a:r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2)</a:t>
                      </a:r>
                      <a:endParaRPr lang="ko-KR" altLang="en-US" sz="10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신현성</a:t>
                      </a:r>
                      <a:endParaRPr lang="ko-KR" altLang="en-US" sz="1000" b="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2)</a:t>
                      </a:r>
                      <a:endParaRPr lang="ko-KR" altLang="en-US" sz="10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개발 의의</a:t>
                      </a:r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endParaRPr lang="ko-KR" altLang="en-US" dirty="0"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endParaRPr lang="ko-KR" altLang="en-US" dirty="0"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endParaRPr lang="ko-KR" altLang="en-US" dirty="0"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42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04.</a:t>
                      </a:r>
                      <a:endParaRPr lang="ko-KR" altLang="en-US" sz="12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세부 기능</a:t>
                      </a:r>
                      <a:endParaRPr lang="ko-KR" altLang="en-US" sz="12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200" b="1" kern="12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  <a:cs typeface="+mn-cs"/>
                        </a:rPr>
                        <a:t>05.</a:t>
                      </a:r>
                      <a:endParaRPr lang="ko-KR" altLang="en-US" sz="1200" b="1" kern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200" b="1" kern="12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  <a:cs typeface="+mn-cs"/>
                        </a:rPr>
                        <a:t>회로도</a:t>
                      </a:r>
                      <a:endParaRPr lang="ko-KR" altLang="en-US" sz="1200" b="1" kern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06.       </a:t>
                      </a:r>
                      <a:r>
                        <a:rPr lang="ko-KR" altLang="en-US" sz="12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프로그램 소스</a:t>
                      </a:r>
                      <a:endParaRPr lang="ko-KR" altLang="en-US" sz="12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L293D</a:t>
                      </a:r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1000" b="1" kern="1200" baseline="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1000" b="1" kern="12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  <a:cs typeface="+mn-cs"/>
                        </a:rPr>
                        <a:t>1)</a:t>
                      </a:r>
                      <a:endParaRPr lang="ko-KR" altLang="en-US" sz="1000" b="1" kern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  <a:cs typeface="+mn-cs"/>
                        </a:rPr>
                        <a:t>회로도</a:t>
                      </a:r>
                      <a:endParaRPr lang="ko-KR" altLang="en-US" sz="1000" kern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1)</a:t>
                      </a:r>
                      <a:endParaRPr lang="ko-KR" altLang="en-US" sz="10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소스</a:t>
                      </a:r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2)</a:t>
                      </a:r>
                      <a:endParaRPr lang="ko-KR" altLang="en-US" sz="10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초음파센서</a:t>
                      </a:r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1000" b="1" kern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endParaRPr lang="ko-KR" altLang="en-US" dirty="0"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1)</a:t>
                      </a:r>
                      <a:endParaRPr lang="ko-KR" altLang="en-US" sz="10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시연영상</a:t>
                      </a:r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3)</a:t>
                      </a:r>
                      <a:endParaRPr lang="ko-KR" altLang="en-US" sz="10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부저</a:t>
                      </a:r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1000" b="1" kern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07.       </a:t>
                      </a:r>
                      <a:r>
                        <a:rPr lang="ko-KR" altLang="en-US" sz="12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소감</a:t>
                      </a:r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4)</a:t>
                      </a:r>
                      <a:endParaRPr lang="ko-KR" altLang="en-US" sz="10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LCD</a:t>
                      </a:r>
                      <a:endParaRPr lang="ko-KR" altLang="en-US" sz="10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4E17-EA00-48D7-9432-ACBDEAD51795}" type="slidenum">
              <a:rPr lang="ko-KR" altLang="en-US" smtClean="0">
                <a:latin typeface="Raleway" pitchFamily="34" charset="0"/>
              </a:rPr>
              <a:t>2</a:t>
            </a:fld>
            <a:endParaRPr lang="ko-KR" altLang="en-US">
              <a:latin typeface="Raleway" pitchFamily="34" charset="0"/>
            </a:endParaRPr>
          </a:p>
        </p:txBody>
      </p:sp>
      <p:cxnSp>
        <p:nvCxnSpPr>
          <p:cNvPr id="32" name="직선 연결선 31"/>
          <p:cNvCxnSpPr/>
          <p:nvPr/>
        </p:nvCxnSpPr>
        <p:spPr>
          <a:xfrm>
            <a:off x="2805354" y="2171924"/>
            <a:ext cx="7100646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65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280592" y="1268760"/>
            <a:ext cx="3960440" cy="396044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Raleway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79083" y="3416310"/>
            <a:ext cx="34582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42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Noto Sans Korean Bold" pitchFamily="34" charset="-127"/>
              </a:rPr>
              <a:t>팀 소개</a:t>
            </a:r>
            <a:r>
              <a:rPr lang="en-US" altLang="ko-KR" sz="42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Noto Sans Korean Bold" pitchFamily="34" charset="-127"/>
              </a:rPr>
              <a:t> </a:t>
            </a:r>
            <a:br>
              <a:rPr lang="en-US" altLang="ko-KR" sz="42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Noto Sans Korean Bold" pitchFamily="34" charset="-127"/>
              </a:rPr>
            </a:br>
            <a:endParaRPr lang="ko-KR" altLang="en-US" sz="4200" dirty="0">
              <a:gradFill>
                <a:gsLst>
                  <a:gs pos="100000">
                    <a:schemeClr val="bg1"/>
                  </a:gs>
                  <a:gs pos="100000">
                    <a:schemeClr val="bg1">
                      <a:lumMod val="90000"/>
                    </a:schemeClr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  <a:ea typeface="Noto Sans Korean Bold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8124" y="1412776"/>
            <a:ext cx="244827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0" spc="-1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Noto Sans Korean Bold" pitchFamily="34" charset="-127"/>
              </a:rPr>
              <a:t>01</a:t>
            </a:r>
            <a:endParaRPr lang="ko-KR" altLang="en-US" sz="11500" spc="-100" dirty="0">
              <a:gradFill>
                <a:gsLst>
                  <a:gs pos="100000">
                    <a:schemeClr val="bg1"/>
                  </a:gs>
                  <a:gs pos="100000">
                    <a:schemeClr val="bg1">
                      <a:lumMod val="90000"/>
                    </a:schemeClr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  <a:ea typeface="Noto Sans Korean Bold" pitchFamily="34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779827" y="3012718"/>
            <a:ext cx="345826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541448"/>
              </p:ext>
            </p:extLst>
          </p:nvPr>
        </p:nvGraphicFramePr>
        <p:xfrm>
          <a:off x="5817096" y="4700228"/>
          <a:ext cx="2664296" cy="960106"/>
        </p:xfrm>
        <a:graphic>
          <a:graphicData uri="http://schemas.openxmlformats.org/drawingml/2006/table">
            <a:tbl>
              <a:tblPr firstRow="1" bandRow="1"/>
              <a:tblGrid>
                <a:gridCol w="731368"/>
                <a:gridCol w="1932928"/>
              </a:tblGrid>
              <a:tr h="480053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Noto Sans Korean Bold" pitchFamily="34" charset="-127"/>
                          <a:ea typeface="Noto Sans Korean Bold" pitchFamily="34" charset="-127"/>
                        </a:rPr>
                        <a:t>1.</a:t>
                      </a:r>
                      <a:endParaRPr lang="ko-KR" altLang="en-US" sz="16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Noto Sans Korean Bold" pitchFamily="34" charset="-127"/>
                        <a:ea typeface="Noto Sans Korean Bold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Noto Sans Korean Bold" pitchFamily="34" charset="-127"/>
                          <a:ea typeface="Noto Sans Korean Bold" pitchFamily="34" charset="-127"/>
                        </a:rPr>
                        <a:t>20160784 </a:t>
                      </a:r>
                      <a:r>
                        <a:rPr lang="ko-KR" altLang="en-US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Noto Sans Korean Bold" pitchFamily="34" charset="-127"/>
                          <a:ea typeface="Noto Sans Korean Bold" pitchFamily="34" charset="-127"/>
                        </a:rPr>
                        <a:t>임태양</a:t>
                      </a:r>
                      <a:endParaRPr lang="ko-KR" altLang="en-US" sz="16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Noto Sans Korean Bold" pitchFamily="34" charset="-127"/>
                        <a:ea typeface="Noto Sans Korean Bold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80053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Noto Sans Korean Bold" pitchFamily="34" charset="-127"/>
                          <a:ea typeface="Noto Sans Korean Bold" pitchFamily="34" charset="-127"/>
                        </a:rPr>
                        <a:t>2.</a:t>
                      </a:r>
                      <a:endParaRPr lang="ko-KR" altLang="en-US" sz="16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Noto Sans Korean Bold" pitchFamily="34" charset="-127"/>
                        <a:ea typeface="Noto Sans Korean Bold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Noto Sans Korean Bold" pitchFamily="34" charset="-127"/>
                          <a:ea typeface="Noto Sans Korean Bold" pitchFamily="34" charset="-127"/>
                        </a:rPr>
                        <a:t>20171576</a:t>
                      </a:r>
                      <a:r>
                        <a:rPr lang="en-US" altLang="ko-KR" sz="1600" baseline="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Noto Sans Korean Bold" pitchFamily="34" charset="-127"/>
                          <a:ea typeface="Noto Sans Korean Bold" pitchFamily="34" charset="-127"/>
                        </a:rPr>
                        <a:t> </a:t>
                      </a:r>
                      <a:r>
                        <a:rPr lang="ko-KR" altLang="en-US" sz="1600" baseline="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Noto Sans Korean Bold" pitchFamily="34" charset="-127"/>
                          <a:ea typeface="Noto Sans Korean Bold" pitchFamily="34" charset="-127"/>
                        </a:rPr>
                        <a:t>신현성</a:t>
                      </a:r>
                      <a:endParaRPr lang="ko-KR" altLang="en-US" sz="16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Noto Sans Korean Bold" pitchFamily="34" charset="-127"/>
                        <a:ea typeface="Noto Sans Korean Bold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7412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280592" y="1268760"/>
            <a:ext cx="3960440" cy="396044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Raleway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8125" y="3416310"/>
            <a:ext cx="39492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42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Adobe 고딕 Std B" pitchFamily="34" charset="-127"/>
                <a:ea typeface="Adobe 고딕 Std B" pitchFamily="34" charset="-127"/>
              </a:rPr>
              <a:t>프로젝트 개요</a:t>
            </a:r>
            <a:r>
              <a:rPr lang="en-US" altLang="ko-KR" sz="42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Adobe 고딕 Std B" pitchFamily="34" charset="-127"/>
                <a:ea typeface="Adobe 고딕 Std B" pitchFamily="34" charset="-127"/>
              </a:rPr>
              <a:t> </a:t>
            </a:r>
            <a:br>
              <a:rPr lang="en-US" altLang="ko-KR" sz="42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Adobe 고딕 Std B" pitchFamily="34" charset="-127"/>
                <a:ea typeface="Adobe 고딕 Std B" pitchFamily="34" charset="-127"/>
              </a:rPr>
            </a:br>
            <a:endParaRPr lang="ko-KR" altLang="en-US" sz="4200" dirty="0">
              <a:gradFill>
                <a:gsLst>
                  <a:gs pos="100000">
                    <a:schemeClr val="bg1"/>
                  </a:gs>
                  <a:gs pos="100000">
                    <a:schemeClr val="bg1">
                      <a:lumMod val="90000"/>
                    </a:schemeClr>
                  </a:gs>
                </a:gsLst>
                <a:path path="circle">
                  <a:fillToRect l="100000" t="100000"/>
                </a:path>
              </a:gra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8124" y="1412776"/>
            <a:ext cx="244827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0" spc="-1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Noto Sans Korean Bold" pitchFamily="34" charset="-127"/>
              </a:rPr>
              <a:t>02</a:t>
            </a:r>
            <a:endParaRPr lang="ko-KR" altLang="en-US" sz="11500" spc="-100" dirty="0">
              <a:gradFill>
                <a:gsLst>
                  <a:gs pos="100000">
                    <a:schemeClr val="bg1"/>
                  </a:gs>
                  <a:gs pos="100000">
                    <a:schemeClr val="bg1">
                      <a:lumMod val="90000"/>
                    </a:schemeClr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  <a:ea typeface="Noto Sans Korean Bold" pitchFamily="34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779827" y="3012718"/>
            <a:ext cx="345826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710841"/>
              </p:ext>
            </p:extLst>
          </p:nvPr>
        </p:nvGraphicFramePr>
        <p:xfrm>
          <a:off x="5817096" y="4700228"/>
          <a:ext cx="2664296" cy="960106"/>
        </p:xfrm>
        <a:graphic>
          <a:graphicData uri="http://schemas.openxmlformats.org/drawingml/2006/table">
            <a:tbl>
              <a:tblPr firstRow="1" bandRow="1"/>
              <a:tblGrid>
                <a:gridCol w="731368"/>
                <a:gridCol w="1932928"/>
              </a:tblGrid>
              <a:tr h="480053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1.</a:t>
                      </a:r>
                      <a:endParaRPr lang="ko-KR" altLang="en-US" sz="16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20160784 </a:t>
                      </a:r>
                      <a:r>
                        <a:rPr lang="ko-KR" altLang="en-US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임태양</a:t>
                      </a:r>
                      <a:endParaRPr lang="ko-KR" altLang="en-US" sz="16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80053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2.</a:t>
                      </a:r>
                      <a:endParaRPr lang="ko-KR" altLang="en-US" sz="16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20171576</a:t>
                      </a:r>
                      <a:r>
                        <a:rPr lang="en-US" altLang="ko-KR" sz="1600" baseline="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 </a:t>
                      </a:r>
                      <a:r>
                        <a:rPr lang="ko-KR" altLang="en-US" sz="1600" baseline="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신현성</a:t>
                      </a:r>
                      <a:endParaRPr lang="ko-KR" altLang="en-US" sz="16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328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>
            <a:off x="320675" y="1268760"/>
            <a:ext cx="9240837" cy="5256584"/>
          </a:xfrm>
          <a:prstGeom prst="rect">
            <a:avLst/>
          </a:prstGeom>
          <a:solidFill>
            <a:schemeClr val="accent1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6700" indent="-266700" algn="ctr">
              <a:lnSpc>
                <a:spcPct val="150000"/>
              </a:lnSpc>
              <a:tabLst>
                <a:tab pos="180975" algn="l"/>
              </a:tabLst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34" charset="0"/>
            </a:endParaRPr>
          </a:p>
        </p:txBody>
      </p:sp>
      <p:grpSp>
        <p:nvGrpSpPr>
          <p:cNvPr id="103" name="그룹 102"/>
          <p:cNvGrpSpPr/>
          <p:nvPr/>
        </p:nvGrpSpPr>
        <p:grpSpPr>
          <a:xfrm>
            <a:off x="-7734" y="203737"/>
            <a:ext cx="1610007" cy="400110"/>
            <a:chOff x="-7734" y="203737"/>
            <a:chExt cx="1610007" cy="400110"/>
          </a:xfrm>
        </p:grpSpPr>
        <p:sp>
          <p:nvSpPr>
            <p:cNvPr id="104" name="직사각형 103"/>
            <p:cNvSpPr/>
            <p:nvPr/>
          </p:nvSpPr>
          <p:spPr>
            <a:xfrm>
              <a:off x="-7734" y="203737"/>
              <a:ext cx="1566790" cy="40011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Raleway" pitchFamily="34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53240" y="203737"/>
              <a:ext cx="11490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dirty="0" smtClean="0">
                  <a:gradFill>
                    <a:gsLst>
                      <a:gs pos="100000">
                        <a:schemeClr val="bg1"/>
                      </a:gs>
                      <a:gs pos="100000">
                        <a:schemeClr val="bg1">
                          <a:lumMod val="9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atin typeface="Raleway" pitchFamily="34" charset="0"/>
                  <a:ea typeface="+mj-ea"/>
                </a:rPr>
                <a:t>Content</a:t>
              </a:r>
              <a:endParaRPr lang="ko-KR" altLang="en-US" sz="2000" dirty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+mj-ea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834809" y="249903"/>
            <a:ext cx="970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b="1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</a:rPr>
              <a:t>WALL-E</a:t>
            </a:r>
            <a:endParaRPr lang="ko-KR" altLang="en-US" sz="1600" b="1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-7734" y="584797"/>
            <a:ext cx="3755403" cy="0"/>
          </a:xfrm>
          <a:prstGeom prst="line">
            <a:avLst/>
          </a:prstGeom>
          <a:ln w="28575">
            <a:solidFill>
              <a:srgbClr val="1D2F3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http://www.clker.com/cliparts/v/B/7/n/s/8/free-vector-person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320675" y="842228"/>
            <a:ext cx="134844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▶ </a:t>
            </a:r>
            <a:r>
              <a:rPr lang="ko-KR" altLang="en-US" sz="1200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프로젝트 개요</a:t>
            </a:r>
            <a:endParaRPr lang="ko-KR" altLang="en-US" sz="1200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674" y="1773393"/>
            <a:ext cx="924083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저희는 이번 </a:t>
            </a:r>
            <a:r>
              <a:rPr lang="ko-KR" altLang="en-US" sz="2200" dirty="0" err="1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아두이노</a:t>
            </a:r>
            <a:r>
              <a:rPr lang="ko-KR" altLang="en-US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기말 프로젝트를 통해 일상생활 속 작은 불편함을 해결해보자 생각했습니다</a:t>
            </a:r>
            <a:r>
              <a:rPr lang="en-US" altLang="ko-KR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.</a:t>
            </a:r>
          </a:p>
          <a:p>
            <a:endParaRPr lang="en-US" altLang="ko-KR" sz="2200" dirty="0" smtClean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r>
              <a:rPr lang="ko-KR" altLang="en-US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그래서 저희는</a:t>
            </a:r>
            <a:r>
              <a:rPr lang="en-US" altLang="ko-KR" sz="22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</a:t>
            </a:r>
            <a:r>
              <a:rPr lang="ko-KR" altLang="en-US" sz="2200" dirty="0" err="1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일상생활속에서</a:t>
            </a:r>
            <a:r>
              <a:rPr lang="ko-KR" altLang="en-US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쉽게 접할 수 있는 불편함 중에서</a:t>
            </a:r>
            <a:r>
              <a:rPr lang="en-US" altLang="ko-KR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 </a:t>
            </a:r>
            <a:r>
              <a:rPr lang="ko-KR" altLang="en-US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쓰레기를 버릴 때 양 손 가득 쓰레기를 들고 있거나</a:t>
            </a:r>
            <a:r>
              <a:rPr lang="en-US" altLang="ko-KR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 </a:t>
            </a:r>
            <a:r>
              <a:rPr lang="ko-KR" altLang="en-US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쓰레기통에 묻은 오물</a:t>
            </a:r>
            <a:r>
              <a:rPr lang="en-US" altLang="ko-KR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 </a:t>
            </a:r>
            <a:r>
              <a:rPr lang="ko-KR" altLang="en-US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쓰레기통에서 나는 </a:t>
            </a:r>
            <a:r>
              <a:rPr lang="ko-KR" altLang="en-US" sz="2200" dirty="0" err="1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악취등에서</a:t>
            </a:r>
            <a:r>
              <a:rPr lang="ko-KR" altLang="en-US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쉽게 쓰레기를 버릴 수 있고</a:t>
            </a:r>
            <a:r>
              <a:rPr lang="en-US" altLang="ko-KR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 </a:t>
            </a:r>
            <a:r>
              <a:rPr lang="ko-KR" altLang="en-US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편하게 쓰레기를 버릴 수 있는 방법이 없을까</a:t>
            </a:r>
            <a:r>
              <a:rPr lang="en-US" altLang="ko-KR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?</a:t>
            </a:r>
            <a:r>
              <a:rPr lang="ko-KR" altLang="en-US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라고 생각했습니다</a:t>
            </a:r>
            <a:r>
              <a:rPr lang="en-US" altLang="ko-KR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.</a:t>
            </a:r>
          </a:p>
          <a:p>
            <a:endParaRPr lang="en-US" altLang="ko-KR" sz="2200" dirty="0" smtClean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r>
              <a:rPr lang="ko-KR" altLang="en-US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그렇게 생각한 결과</a:t>
            </a:r>
            <a:r>
              <a:rPr lang="en-US" altLang="ko-KR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 </a:t>
            </a:r>
            <a:r>
              <a:rPr lang="ko-KR" altLang="en-US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저희는 쓰레기통 문을 자동으로 개폐할 수 있도록 도와주는 작품을 만들어보고자 생각했고</a:t>
            </a:r>
            <a:r>
              <a:rPr lang="en-US" altLang="ko-KR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 </a:t>
            </a:r>
            <a:r>
              <a:rPr lang="ko-KR" altLang="en-US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저희는 이번 기회를 통해 자동으로 문이 개폐되는 작품을 만들어보았습니다</a:t>
            </a:r>
            <a:r>
              <a:rPr lang="en-US" altLang="ko-KR" sz="22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.</a:t>
            </a:r>
          </a:p>
          <a:p>
            <a:endParaRPr lang="en-US" altLang="ko-KR" sz="1400" dirty="0" smtClean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endParaRPr lang="en-US" altLang="ko-KR" sz="14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832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280592" y="1268760"/>
            <a:ext cx="3960440" cy="396044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Raleway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8125" y="3416310"/>
            <a:ext cx="39492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42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Adobe 고딕 Std B" pitchFamily="34" charset="-127"/>
                <a:ea typeface="Adobe 고딕 Std B" pitchFamily="34" charset="-127"/>
              </a:rPr>
              <a:t>시스템 구성도</a:t>
            </a:r>
            <a:r>
              <a:rPr lang="en-US" altLang="ko-KR" sz="42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Adobe 고딕 Std B" pitchFamily="34" charset="-127"/>
                <a:ea typeface="Adobe 고딕 Std B" pitchFamily="34" charset="-127"/>
              </a:rPr>
              <a:t/>
            </a:r>
            <a:br>
              <a:rPr lang="en-US" altLang="ko-KR" sz="42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Adobe 고딕 Std B" pitchFamily="34" charset="-127"/>
                <a:ea typeface="Adobe 고딕 Std B" pitchFamily="34" charset="-127"/>
              </a:rPr>
            </a:br>
            <a:endParaRPr lang="ko-KR" altLang="en-US" sz="4200" dirty="0">
              <a:gradFill>
                <a:gsLst>
                  <a:gs pos="100000">
                    <a:schemeClr val="bg1"/>
                  </a:gs>
                  <a:gs pos="100000">
                    <a:schemeClr val="bg1">
                      <a:lumMod val="90000"/>
                    </a:schemeClr>
                  </a:gs>
                </a:gsLst>
                <a:path path="circle">
                  <a:fillToRect l="100000" t="100000"/>
                </a:path>
              </a:gra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8124" y="1412776"/>
            <a:ext cx="244827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0" spc="-1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Noto Sans Korean Bold" pitchFamily="34" charset="-127"/>
              </a:rPr>
              <a:t>03</a:t>
            </a:r>
            <a:endParaRPr lang="ko-KR" altLang="en-US" sz="11500" spc="-100" dirty="0">
              <a:gradFill>
                <a:gsLst>
                  <a:gs pos="100000">
                    <a:schemeClr val="bg1"/>
                  </a:gs>
                  <a:gs pos="100000">
                    <a:schemeClr val="bg1">
                      <a:lumMod val="90000"/>
                    </a:schemeClr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  <a:ea typeface="Noto Sans Korean Bold" pitchFamily="34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779827" y="3012718"/>
            <a:ext cx="345826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880701"/>
              </p:ext>
            </p:extLst>
          </p:nvPr>
        </p:nvGraphicFramePr>
        <p:xfrm>
          <a:off x="5817096" y="4700228"/>
          <a:ext cx="2664296" cy="960106"/>
        </p:xfrm>
        <a:graphic>
          <a:graphicData uri="http://schemas.openxmlformats.org/drawingml/2006/table">
            <a:tbl>
              <a:tblPr firstRow="1" bandRow="1"/>
              <a:tblGrid>
                <a:gridCol w="731368"/>
                <a:gridCol w="1932928"/>
              </a:tblGrid>
              <a:tr h="480053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1.</a:t>
                      </a:r>
                      <a:endParaRPr lang="ko-KR" altLang="en-US" sz="16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20160784 </a:t>
                      </a:r>
                      <a:r>
                        <a:rPr lang="ko-KR" altLang="en-US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임태양</a:t>
                      </a:r>
                      <a:endParaRPr lang="ko-KR" altLang="en-US" sz="16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80053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2.</a:t>
                      </a:r>
                      <a:endParaRPr lang="ko-KR" altLang="en-US" sz="16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20171576</a:t>
                      </a:r>
                      <a:r>
                        <a:rPr lang="en-US" altLang="ko-KR" sz="1600" baseline="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 </a:t>
                      </a:r>
                      <a:r>
                        <a:rPr lang="ko-KR" altLang="en-US" sz="1600" baseline="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신현성</a:t>
                      </a:r>
                      <a:endParaRPr lang="ko-KR" altLang="en-US" sz="16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28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>
            <a:off x="316804" y="1265828"/>
            <a:ext cx="9240837" cy="5256584"/>
          </a:xfrm>
          <a:prstGeom prst="rect">
            <a:avLst/>
          </a:prstGeom>
          <a:solidFill>
            <a:schemeClr val="accent1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6700" indent="-266700" algn="ctr">
              <a:lnSpc>
                <a:spcPct val="150000"/>
              </a:lnSpc>
              <a:tabLst>
                <a:tab pos="180975" algn="l"/>
              </a:tabLst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34" charset="0"/>
            </a:endParaRPr>
          </a:p>
        </p:txBody>
      </p:sp>
      <p:grpSp>
        <p:nvGrpSpPr>
          <p:cNvPr id="103" name="그룹 102"/>
          <p:cNvGrpSpPr/>
          <p:nvPr/>
        </p:nvGrpSpPr>
        <p:grpSpPr>
          <a:xfrm>
            <a:off x="-7734" y="203737"/>
            <a:ext cx="1610007" cy="400110"/>
            <a:chOff x="-7734" y="203737"/>
            <a:chExt cx="1610007" cy="400110"/>
          </a:xfrm>
        </p:grpSpPr>
        <p:sp>
          <p:nvSpPr>
            <p:cNvPr id="104" name="직사각형 103"/>
            <p:cNvSpPr/>
            <p:nvPr/>
          </p:nvSpPr>
          <p:spPr>
            <a:xfrm>
              <a:off x="-7734" y="203737"/>
              <a:ext cx="1566790" cy="40011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Raleway" pitchFamily="34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53240" y="203737"/>
              <a:ext cx="11490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dirty="0" smtClean="0">
                  <a:gradFill>
                    <a:gsLst>
                      <a:gs pos="100000">
                        <a:schemeClr val="bg1"/>
                      </a:gs>
                      <a:gs pos="100000">
                        <a:schemeClr val="bg1">
                          <a:lumMod val="9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atin typeface="Raleway" pitchFamily="34" charset="0"/>
                  <a:ea typeface="+mj-ea"/>
                </a:rPr>
                <a:t>Content</a:t>
              </a:r>
              <a:endParaRPr lang="ko-KR" altLang="en-US" sz="2000" dirty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+mj-ea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834809" y="249903"/>
            <a:ext cx="970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b="1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</a:rPr>
              <a:t>WALL-E</a:t>
            </a:r>
            <a:endParaRPr lang="ko-KR" altLang="en-US" sz="1600" b="1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-7734" y="584797"/>
            <a:ext cx="3755403" cy="0"/>
          </a:xfrm>
          <a:prstGeom prst="line">
            <a:avLst/>
          </a:prstGeom>
          <a:ln w="28575">
            <a:solidFill>
              <a:srgbClr val="1D2F3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http://www.clker.com/cliparts/v/B/7/n/s/8/free-vector-person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320675" y="842228"/>
            <a:ext cx="83388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▶ </a:t>
            </a:r>
            <a:r>
              <a:rPr lang="ko-KR" altLang="en-US" sz="1200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구성</a:t>
            </a:r>
            <a:r>
              <a:rPr lang="ko-KR" altLang="en-US" sz="1200" dirty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도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79" y="1246779"/>
            <a:ext cx="9285161" cy="533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08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280592" y="1268760"/>
            <a:ext cx="3960440" cy="396044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Raleway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8125" y="3416310"/>
            <a:ext cx="39492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42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Adobe 고딕 Std B" pitchFamily="34" charset="-127"/>
                <a:ea typeface="Adobe 고딕 Std B" pitchFamily="34" charset="-127"/>
              </a:rPr>
              <a:t>세부 기능</a:t>
            </a:r>
            <a:endParaRPr lang="ko-KR" altLang="en-US" sz="4200" dirty="0">
              <a:gradFill>
                <a:gsLst>
                  <a:gs pos="100000">
                    <a:schemeClr val="bg1"/>
                  </a:gs>
                  <a:gs pos="100000">
                    <a:schemeClr val="bg1">
                      <a:lumMod val="90000"/>
                    </a:schemeClr>
                  </a:gs>
                </a:gsLst>
                <a:path path="circle">
                  <a:fillToRect l="100000" t="100000"/>
                </a:path>
              </a:gra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8124" y="1412776"/>
            <a:ext cx="244827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0" spc="-1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Noto Sans Korean Bold" pitchFamily="34" charset="-127"/>
              </a:rPr>
              <a:t>04</a:t>
            </a:r>
            <a:endParaRPr lang="ko-KR" altLang="en-US" sz="11500" spc="-100" dirty="0">
              <a:gradFill>
                <a:gsLst>
                  <a:gs pos="100000">
                    <a:schemeClr val="bg1"/>
                  </a:gs>
                  <a:gs pos="100000">
                    <a:schemeClr val="bg1">
                      <a:lumMod val="90000"/>
                    </a:schemeClr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  <a:ea typeface="Noto Sans Korean Bold" pitchFamily="34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779827" y="3012718"/>
            <a:ext cx="345826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0054"/>
              </p:ext>
            </p:extLst>
          </p:nvPr>
        </p:nvGraphicFramePr>
        <p:xfrm>
          <a:off x="5817096" y="4700228"/>
          <a:ext cx="2664296" cy="960106"/>
        </p:xfrm>
        <a:graphic>
          <a:graphicData uri="http://schemas.openxmlformats.org/drawingml/2006/table">
            <a:tbl>
              <a:tblPr firstRow="1" bandRow="1"/>
              <a:tblGrid>
                <a:gridCol w="731368"/>
                <a:gridCol w="1932928"/>
              </a:tblGrid>
              <a:tr h="480053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1.</a:t>
                      </a:r>
                      <a:endParaRPr lang="ko-KR" altLang="en-US" sz="16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20160784 </a:t>
                      </a:r>
                      <a:r>
                        <a:rPr lang="ko-KR" altLang="en-US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임태양</a:t>
                      </a:r>
                      <a:endParaRPr lang="ko-KR" altLang="en-US" sz="16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80053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2.</a:t>
                      </a:r>
                      <a:endParaRPr lang="ko-KR" altLang="en-US" sz="16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20171576</a:t>
                      </a:r>
                      <a:r>
                        <a:rPr lang="en-US" altLang="ko-KR" sz="1600" baseline="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 </a:t>
                      </a:r>
                      <a:r>
                        <a:rPr lang="ko-KR" altLang="en-US" sz="1600" baseline="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신현성</a:t>
                      </a:r>
                      <a:endParaRPr lang="ko-KR" altLang="en-US" sz="16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19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>
            <a:off x="320675" y="1268760"/>
            <a:ext cx="9240837" cy="5256584"/>
          </a:xfrm>
          <a:prstGeom prst="rect">
            <a:avLst/>
          </a:prstGeom>
          <a:solidFill>
            <a:schemeClr val="accent1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6700" indent="-266700" algn="ctr">
              <a:lnSpc>
                <a:spcPct val="150000"/>
              </a:lnSpc>
              <a:tabLst>
                <a:tab pos="180975" algn="l"/>
              </a:tabLst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34" charset="0"/>
            </a:endParaRPr>
          </a:p>
        </p:txBody>
      </p:sp>
      <p:grpSp>
        <p:nvGrpSpPr>
          <p:cNvPr id="103" name="그룹 102"/>
          <p:cNvGrpSpPr/>
          <p:nvPr/>
        </p:nvGrpSpPr>
        <p:grpSpPr>
          <a:xfrm>
            <a:off x="-7734" y="203737"/>
            <a:ext cx="1610007" cy="400110"/>
            <a:chOff x="-7734" y="203737"/>
            <a:chExt cx="1610007" cy="400110"/>
          </a:xfrm>
        </p:grpSpPr>
        <p:sp>
          <p:nvSpPr>
            <p:cNvPr id="104" name="직사각형 103"/>
            <p:cNvSpPr/>
            <p:nvPr/>
          </p:nvSpPr>
          <p:spPr>
            <a:xfrm>
              <a:off x="-7734" y="203737"/>
              <a:ext cx="1566790" cy="40011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Raleway" pitchFamily="34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53240" y="203737"/>
              <a:ext cx="11490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dirty="0" smtClean="0">
                  <a:gradFill>
                    <a:gsLst>
                      <a:gs pos="100000">
                        <a:schemeClr val="bg1"/>
                      </a:gs>
                      <a:gs pos="100000">
                        <a:schemeClr val="bg1">
                          <a:lumMod val="9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atin typeface="Raleway" pitchFamily="34" charset="0"/>
                  <a:ea typeface="+mj-ea"/>
                </a:rPr>
                <a:t>Content</a:t>
              </a:r>
              <a:endParaRPr lang="ko-KR" altLang="en-US" sz="2000" dirty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+mj-ea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834809" y="249903"/>
            <a:ext cx="970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b="1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</a:rPr>
              <a:t>WALL-E</a:t>
            </a:r>
            <a:endParaRPr lang="ko-KR" altLang="en-US" sz="1600" b="1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-7734" y="584797"/>
            <a:ext cx="3755403" cy="0"/>
          </a:xfrm>
          <a:prstGeom prst="line">
            <a:avLst/>
          </a:prstGeom>
          <a:ln w="28575">
            <a:solidFill>
              <a:srgbClr val="1D2F3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http://www.clker.com/cliparts/v/B/7/n/s/8/free-vector-person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320675" y="842228"/>
            <a:ext cx="8755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▶ </a:t>
            </a:r>
            <a:r>
              <a:rPr lang="en-US" altLang="ko-KR" sz="1200" b="1" dirty="0"/>
              <a:t>L293D </a:t>
            </a:r>
            <a:endParaRPr lang="ko-KR" altLang="en-US" sz="1200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34778" y="1556792"/>
            <a:ext cx="6336704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chemeClr val="accent2"/>
                </a:solidFill>
              </a:rPr>
              <a:t>L293D</a:t>
            </a:r>
          </a:p>
          <a:p>
            <a:endParaRPr lang="en-US" altLang="ko-KR" sz="2400" b="1" dirty="0" smtClean="0">
              <a:solidFill>
                <a:schemeClr val="accent2"/>
              </a:solidFill>
            </a:endParaRPr>
          </a:p>
          <a:p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- 4.5V~36V 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전압을 입력 가능</a:t>
            </a:r>
          </a:p>
          <a:p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- 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채널당 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600mA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의 전류를 인가 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(4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채널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)</a:t>
            </a:r>
            <a:endParaRPr lang="ko-KR" altLang="en-US" sz="24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- 4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개의 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DC 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모터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</a:t>
            </a:r>
            <a:r>
              <a:rPr lang="ko-KR" altLang="en-US" sz="2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단방향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) 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또는 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2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개의 스텝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(stepper) 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모터 제어</a:t>
            </a:r>
          </a:p>
          <a:p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- 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모터의 양방향 제어</a:t>
            </a:r>
          </a:p>
          <a:p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- 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모터의 속도제어 가능 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(PWM 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제어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)</a:t>
            </a:r>
            <a:endParaRPr lang="ko-KR" altLang="en-US" sz="24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- 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외부전원 이용가능</a:t>
            </a:r>
          </a:p>
          <a:p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- 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다이오드 포함되어 있음 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전류의 역류 방지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)</a:t>
            </a:r>
            <a:endParaRPr lang="ko-KR" altLang="en-US" sz="24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endParaRPr lang="en-US" altLang="ko-KR" sz="14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74" y="1268760"/>
            <a:ext cx="2124075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598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>
            <a:off x="320675" y="1268760"/>
            <a:ext cx="9240837" cy="5256584"/>
          </a:xfrm>
          <a:prstGeom prst="rect">
            <a:avLst/>
          </a:prstGeom>
          <a:solidFill>
            <a:schemeClr val="accent1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6700" indent="-266700" algn="ctr">
              <a:lnSpc>
                <a:spcPct val="150000"/>
              </a:lnSpc>
              <a:tabLst>
                <a:tab pos="180975" algn="l"/>
              </a:tabLst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34" charset="0"/>
            </a:endParaRPr>
          </a:p>
        </p:txBody>
      </p:sp>
      <p:grpSp>
        <p:nvGrpSpPr>
          <p:cNvPr id="103" name="그룹 102"/>
          <p:cNvGrpSpPr/>
          <p:nvPr/>
        </p:nvGrpSpPr>
        <p:grpSpPr>
          <a:xfrm>
            <a:off x="-7734" y="203737"/>
            <a:ext cx="1610007" cy="400110"/>
            <a:chOff x="-7734" y="203737"/>
            <a:chExt cx="1610007" cy="400110"/>
          </a:xfrm>
        </p:grpSpPr>
        <p:sp>
          <p:nvSpPr>
            <p:cNvPr id="104" name="직사각형 103"/>
            <p:cNvSpPr/>
            <p:nvPr/>
          </p:nvSpPr>
          <p:spPr>
            <a:xfrm>
              <a:off x="-7734" y="203737"/>
              <a:ext cx="1566790" cy="40011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Raleway" pitchFamily="34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53240" y="203737"/>
              <a:ext cx="11490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dirty="0" smtClean="0">
                  <a:gradFill>
                    <a:gsLst>
                      <a:gs pos="100000">
                        <a:schemeClr val="bg1"/>
                      </a:gs>
                      <a:gs pos="100000">
                        <a:schemeClr val="bg1">
                          <a:lumMod val="9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atin typeface="Raleway" pitchFamily="34" charset="0"/>
                  <a:ea typeface="+mj-ea"/>
                </a:rPr>
                <a:t>Content</a:t>
              </a:r>
              <a:endParaRPr lang="ko-KR" altLang="en-US" sz="2000" dirty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+mj-ea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834809" y="249903"/>
            <a:ext cx="970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b="1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</a:rPr>
              <a:t>WALL-E</a:t>
            </a:r>
            <a:endParaRPr lang="ko-KR" altLang="en-US" sz="1600" b="1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-7734" y="584797"/>
            <a:ext cx="3755403" cy="0"/>
          </a:xfrm>
          <a:prstGeom prst="line">
            <a:avLst/>
          </a:prstGeom>
          <a:ln w="28575">
            <a:solidFill>
              <a:srgbClr val="1D2F3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http://www.clker.com/cliparts/v/B/7/n/s/8/free-vector-person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320675" y="842228"/>
            <a:ext cx="8755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▶ </a:t>
            </a:r>
            <a:r>
              <a:rPr lang="en-US" altLang="ko-KR" sz="1200" b="1" dirty="0"/>
              <a:t>L293D </a:t>
            </a:r>
            <a:endParaRPr lang="ko-KR" altLang="en-US" sz="1200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60912" y="1484784"/>
            <a:ext cx="540060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chemeClr val="accent2"/>
                </a:solidFill>
              </a:rPr>
              <a:t>L293D</a:t>
            </a:r>
          </a:p>
          <a:p>
            <a:endParaRPr lang="en-US" altLang="ko-KR" sz="2400" b="1" dirty="0" smtClean="0">
              <a:solidFill>
                <a:schemeClr val="accent2"/>
              </a:solidFill>
            </a:endParaRPr>
          </a:p>
          <a:p>
            <a:r>
              <a:rPr lang="en-US" altLang="ko-KR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-ENABLE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는 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PWM 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제어를 위한 </a:t>
            </a:r>
            <a:r>
              <a:rPr lang="ko-KR" altLang="en-US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핀</a:t>
            </a:r>
            <a:endParaRPr lang="en-US" altLang="ko-KR" sz="2400" dirty="0" smtClean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endParaRPr lang="en-US" altLang="ko-KR" sz="2400" dirty="0" smtClean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- </a:t>
            </a:r>
            <a:r>
              <a:rPr lang="ko-KR" altLang="en-US" sz="2400" dirty="0" err="1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아두이노에서</a:t>
            </a:r>
            <a:r>
              <a:rPr lang="ko-KR" altLang="en-US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INPUT 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핀으로 전류를 보내면 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OUTPUT 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핀을 통하여 모터로 전류가 흐르게 됨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. </a:t>
            </a:r>
            <a:endParaRPr lang="en-US" altLang="ko-KR" sz="2400" dirty="0" smtClean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pPr marL="342900" indent="-342900">
              <a:buFontTx/>
              <a:buChar char="-"/>
            </a:pPr>
            <a:endParaRPr lang="en-US" altLang="ko-KR" sz="24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- </a:t>
            </a:r>
            <a:r>
              <a:rPr lang="en-US" altLang="ko-KR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INPUT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과 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OUTPUT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는 </a:t>
            </a:r>
            <a:r>
              <a:rPr lang="ko-KR" altLang="en-US" sz="2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한쌍이며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4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개의 모터를 제어할 수 </a:t>
            </a:r>
            <a:r>
              <a:rPr lang="ko-KR" altLang="en-US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있음  </a:t>
            </a:r>
            <a:endParaRPr lang="en-US" altLang="ko-KR" sz="2400" dirty="0" smtClean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endParaRPr lang="ko-KR" altLang="en-US" sz="24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- </a:t>
            </a:r>
            <a:r>
              <a:rPr lang="en-US" altLang="ko-KR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Vs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는 모터의 전원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 </a:t>
            </a:r>
            <a:r>
              <a:rPr lang="en-US" altLang="ko-KR" sz="2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Vss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는 논리전원</a:t>
            </a:r>
          </a:p>
          <a:p>
            <a:r>
              <a:rPr lang="ko-KR" altLang="en-US" sz="2400" dirty="0"/>
              <a:t/>
            </a:r>
            <a:br>
              <a:rPr lang="ko-KR" altLang="en-US" sz="2400" dirty="0"/>
            </a:b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/>
              <a:t/>
            </a:r>
            <a:br>
              <a:rPr lang="en-US" altLang="ko-KR" sz="2400" dirty="0"/>
            </a:br>
            <a:endParaRPr lang="en-US" altLang="ko-KR" sz="14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82" y="1811644"/>
            <a:ext cx="3557198" cy="417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0445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>
            <a:off x="316804" y="1265828"/>
            <a:ext cx="9240837" cy="5256584"/>
          </a:xfrm>
          <a:prstGeom prst="rect">
            <a:avLst/>
          </a:prstGeom>
          <a:solidFill>
            <a:schemeClr val="accent1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6700" indent="-266700" algn="ctr">
              <a:lnSpc>
                <a:spcPct val="150000"/>
              </a:lnSpc>
              <a:tabLst>
                <a:tab pos="180975" algn="l"/>
              </a:tabLst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34" charset="0"/>
            </a:endParaRPr>
          </a:p>
        </p:txBody>
      </p:sp>
      <p:grpSp>
        <p:nvGrpSpPr>
          <p:cNvPr id="103" name="그룹 102"/>
          <p:cNvGrpSpPr/>
          <p:nvPr/>
        </p:nvGrpSpPr>
        <p:grpSpPr>
          <a:xfrm>
            <a:off x="-7734" y="203737"/>
            <a:ext cx="1610007" cy="400110"/>
            <a:chOff x="-7734" y="203737"/>
            <a:chExt cx="1610007" cy="400110"/>
          </a:xfrm>
        </p:grpSpPr>
        <p:sp>
          <p:nvSpPr>
            <p:cNvPr id="104" name="직사각형 103"/>
            <p:cNvSpPr/>
            <p:nvPr/>
          </p:nvSpPr>
          <p:spPr>
            <a:xfrm>
              <a:off x="-7734" y="203737"/>
              <a:ext cx="1566790" cy="40011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Raleway" pitchFamily="34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53240" y="203737"/>
              <a:ext cx="11490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dirty="0" smtClean="0">
                  <a:gradFill>
                    <a:gsLst>
                      <a:gs pos="100000">
                        <a:schemeClr val="bg1"/>
                      </a:gs>
                      <a:gs pos="100000">
                        <a:schemeClr val="bg1">
                          <a:lumMod val="9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atin typeface="Raleway" pitchFamily="34" charset="0"/>
                  <a:ea typeface="+mj-ea"/>
                </a:rPr>
                <a:t>Content</a:t>
              </a:r>
              <a:endParaRPr lang="ko-KR" altLang="en-US" sz="2000" dirty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+mj-ea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834809" y="249903"/>
            <a:ext cx="970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b="1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</a:rPr>
              <a:t>WALL-E</a:t>
            </a:r>
            <a:endParaRPr lang="ko-KR" altLang="en-US" sz="1600" b="1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-7734" y="584797"/>
            <a:ext cx="3755403" cy="0"/>
          </a:xfrm>
          <a:prstGeom prst="line">
            <a:avLst/>
          </a:prstGeom>
          <a:ln w="28575">
            <a:solidFill>
              <a:srgbClr val="1D2F3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http://www.clker.com/cliparts/v/B/7/n/s/8/free-vector-person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320675" y="842228"/>
            <a:ext cx="9877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▶ </a:t>
            </a:r>
            <a:r>
              <a:rPr lang="en-US" altLang="ko-KR" sz="1200" b="1" dirty="0" smtClean="0"/>
              <a:t>DC </a:t>
            </a:r>
            <a:r>
              <a:rPr lang="ko-KR" altLang="en-US" sz="1200" b="1" dirty="0" smtClean="0"/>
              <a:t>모터</a:t>
            </a:r>
            <a:r>
              <a:rPr lang="en-US" altLang="ko-KR" sz="1200" b="1" dirty="0" smtClean="0"/>
              <a:t> </a:t>
            </a:r>
            <a:endParaRPr lang="ko-KR" altLang="en-US" sz="1200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60191" y="1272419"/>
            <a:ext cx="540060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chemeClr val="accent2"/>
                </a:solidFill>
              </a:rPr>
              <a:t>DC </a:t>
            </a:r>
            <a:r>
              <a:rPr lang="ko-KR" altLang="en-US" sz="2400" b="1" dirty="0" smtClean="0">
                <a:solidFill>
                  <a:schemeClr val="accent2"/>
                </a:solidFill>
              </a:rPr>
              <a:t>모터</a:t>
            </a:r>
            <a:endParaRPr lang="en-US" altLang="ko-KR" sz="2400" b="1" dirty="0">
              <a:solidFill>
                <a:schemeClr val="accent2"/>
              </a:solidFill>
            </a:endParaRPr>
          </a:p>
          <a:p>
            <a:endParaRPr lang="en-US" altLang="ko-KR" sz="2400" b="1" dirty="0" smtClean="0">
              <a:solidFill>
                <a:schemeClr val="accent2"/>
              </a:solidFill>
            </a:endParaRPr>
          </a:p>
          <a:p>
            <a:r>
              <a:rPr lang="en-US" altLang="ko-KR" sz="16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-</a:t>
            </a:r>
            <a:r>
              <a:rPr lang="en-US" altLang="ko-KR" sz="16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DC</a:t>
            </a:r>
            <a:r>
              <a:rPr lang="ko-KR" altLang="en-US" sz="1600" dirty="0"/>
              <a:t>모터는 저전력에 고효율이기 때문에 많이 쓰이는 </a:t>
            </a:r>
            <a:r>
              <a:rPr lang="ko-KR" altLang="en-US" sz="1600" dirty="0" smtClean="0"/>
              <a:t>모터</a:t>
            </a:r>
            <a:endParaRPr lang="en-US" altLang="ko-KR" sz="1600" dirty="0" smtClean="0"/>
          </a:p>
          <a:p>
            <a:r>
              <a:rPr lang="en-US" altLang="ko-KR" sz="1600" dirty="0" smtClean="0"/>
              <a:t>- 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특징</a:t>
            </a:r>
            <a:endParaRPr lang="en-US" altLang="ko-KR" sz="1600" dirty="0"/>
          </a:p>
          <a:p>
            <a:r>
              <a:rPr lang="en-US" altLang="ko-KR" sz="1600" dirty="0" smtClean="0"/>
              <a:t>- </a:t>
            </a:r>
            <a:r>
              <a:rPr lang="ko-KR" altLang="en-US" sz="1600" dirty="0"/>
              <a:t>기동 토크가 크다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- </a:t>
            </a:r>
            <a:r>
              <a:rPr lang="ko-KR" altLang="en-US" sz="1600" dirty="0"/>
              <a:t>전압에 회전특성이 직선적으로 비례한다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- </a:t>
            </a:r>
            <a:r>
              <a:rPr lang="ko-KR" altLang="en-US" sz="1600" dirty="0"/>
              <a:t>입력전류에 출력 토크가 직선적으로 비례하며</a:t>
            </a:r>
            <a:r>
              <a:rPr lang="en-US" altLang="ko-KR" sz="1600" dirty="0"/>
              <a:t>, </a:t>
            </a:r>
            <a:r>
              <a:rPr lang="ko-KR" altLang="en-US" sz="1600" dirty="0"/>
              <a:t>효율이 양호하다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 smtClean="0"/>
              <a:t>-</a:t>
            </a:r>
            <a:r>
              <a:rPr lang="ko-KR" altLang="en-US" sz="1600" dirty="0" smtClean="0"/>
              <a:t>가격이 </a:t>
            </a:r>
            <a:r>
              <a:rPr lang="ko-KR" altLang="en-US" sz="1600" dirty="0"/>
              <a:t>저렴하다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en-US" altLang="ko-KR" sz="1600" dirty="0"/>
              <a:t>-</a:t>
            </a:r>
            <a:r>
              <a:rPr lang="en-US" altLang="ko-KR" sz="1600" dirty="0" smtClean="0"/>
              <a:t>(+), </a:t>
            </a:r>
            <a:r>
              <a:rPr lang="en-US" altLang="ko-KR" sz="1600" dirty="0"/>
              <a:t>(-) </a:t>
            </a:r>
            <a:r>
              <a:rPr lang="ko-KR" altLang="en-US" sz="1600" dirty="0"/>
              <a:t>부분에 각각 전지를 연결해주면 모터가 회전합니다</a:t>
            </a:r>
            <a:r>
              <a:rPr lang="en-US" altLang="ko-KR" sz="1600" dirty="0" smtClean="0"/>
              <a:t>.</a:t>
            </a:r>
            <a:endParaRPr lang="en-US" altLang="ko-KR" sz="1600" dirty="0"/>
          </a:p>
          <a:p>
            <a:r>
              <a:rPr lang="en-US" altLang="ko-KR" sz="1600" dirty="0" smtClean="0"/>
              <a:t>-</a:t>
            </a:r>
            <a:r>
              <a:rPr lang="ko-KR" altLang="en-US" sz="1600" dirty="0" smtClean="0"/>
              <a:t>만약 </a:t>
            </a:r>
            <a:r>
              <a:rPr lang="en-US" altLang="ko-KR" sz="1600" dirty="0"/>
              <a:t>(+)</a:t>
            </a:r>
            <a:r>
              <a:rPr lang="ko-KR" altLang="en-US" sz="1600" dirty="0"/>
              <a:t>와 </a:t>
            </a:r>
            <a:r>
              <a:rPr lang="en-US" altLang="ko-KR" sz="1600" dirty="0"/>
              <a:t>(-)</a:t>
            </a:r>
            <a:r>
              <a:rPr lang="ko-KR" altLang="en-US" sz="1600" dirty="0"/>
              <a:t>를 바꾸게 된다면 그전과 반대 반향으로 회전합니다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  </a:t>
            </a:r>
            <a:r>
              <a:rPr lang="ko-KR" altLang="en-US" sz="1600" dirty="0" smtClean="0"/>
              <a:t>즉</a:t>
            </a:r>
            <a:r>
              <a:rPr lang="en-US" altLang="ko-KR" sz="1600" dirty="0"/>
              <a:t>, </a:t>
            </a:r>
            <a:r>
              <a:rPr lang="ko-KR" altLang="en-US" sz="1600" dirty="0"/>
              <a:t>이 부분을 제어하면 모터의 방향을 </a:t>
            </a:r>
            <a:r>
              <a:rPr lang="ko-KR" altLang="en-US" sz="1600" dirty="0" smtClean="0"/>
              <a:t>설정 가능</a:t>
            </a:r>
            <a:r>
              <a:rPr lang="ko-KR" altLang="en-US" sz="1600" dirty="0"/>
              <a:t/>
            </a:r>
            <a:br>
              <a:rPr lang="ko-KR" altLang="en-US" sz="1600" dirty="0"/>
            </a:br>
            <a:endParaRPr lang="en-US" altLang="ko-KR" sz="1600" dirty="0"/>
          </a:p>
          <a:p>
            <a:endParaRPr lang="en-US" altLang="ko-KR" sz="2400" dirty="0" smtClean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r>
              <a:rPr lang="ko-KR" altLang="en-US" sz="2400" dirty="0"/>
              <a:t/>
            </a:r>
            <a:br>
              <a:rPr lang="ko-KR" altLang="en-US" sz="2400" dirty="0"/>
            </a:b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/>
              <a:t/>
            </a:r>
            <a:br>
              <a:rPr lang="en-US" altLang="ko-KR" sz="2400" dirty="0"/>
            </a:br>
            <a:endParaRPr lang="en-US" altLang="ko-KR" sz="14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75" y="1268760"/>
            <a:ext cx="3974937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64379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>
            <a:off x="316804" y="1265828"/>
            <a:ext cx="9240837" cy="5256584"/>
          </a:xfrm>
          <a:prstGeom prst="rect">
            <a:avLst/>
          </a:prstGeom>
          <a:solidFill>
            <a:schemeClr val="accent1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6700" indent="-266700" algn="ctr">
              <a:lnSpc>
                <a:spcPct val="150000"/>
              </a:lnSpc>
              <a:tabLst>
                <a:tab pos="180975" algn="l"/>
              </a:tabLst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34" charset="0"/>
            </a:endParaRPr>
          </a:p>
        </p:txBody>
      </p:sp>
      <p:grpSp>
        <p:nvGrpSpPr>
          <p:cNvPr id="103" name="그룹 102"/>
          <p:cNvGrpSpPr/>
          <p:nvPr/>
        </p:nvGrpSpPr>
        <p:grpSpPr>
          <a:xfrm>
            <a:off x="-7734" y="203737"/>
            <a:ext cx="1610007" cy="400110"/>
            <a:chOff x="-7734" y="203737"/>
            <a:chExt cx="1610007" cy="400110"/>
          </a:xfrm>
        </p:grpSpPr>
        <p:sp>
          <p:nvSpPr>
            <p:cNvPr id="104" name="직사각형 103"/>
            <p:cNvSpPr/>
            <p:nvPr/>
          </p:nvSpPr>
          <p:spPr>
            <a:xfrm>
              <a:off x="-7734" y="203737"/>
              <a:ext cx="1566790" cy="40011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Raleway" pitchFamily="34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53240" y="203737"/>
              <a:ext cx="11490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dirty="0" smtClean="0">
                  <a:gradFill>
                    <a:gsLst>
                      <a:gs pos="100000">
                        <a:schemeClr val="bg1"/>
                      </a:gs>
                      <a:gs pos="100000">
                        <a:schemeClr val="bg1">
                          <a:lumMod val="9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atin typeface="Raleway" pitchFamily="34" charset="0"/>
                  <a:ea typeface="+mj-ea"/>
                </a:rPr>
                <a:t>Content</a:t>
              </a:r>
              <a:endParaRPr lang="ko-KR" altLang="en-US" sz="2000" dirty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+mj-ea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834809" y="249903"/>
            <a:ext cx="970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b="1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</a:rPr>
              <a:t>WALL-E</a:t>
            </a:r>
            <a:endParaRPr lang="ko-KR" altLang="en-US" sz="1600" b="1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-7734" y="584797"/>
            <a:ext cx="3755403" cy="0"/>
          </a:xfrm>
          <a:prstGeom prst="line">
            <a:avLst/>
          </a:prstGeom>
          <a:ln w="28575">
            <a:solidFill>
              <a:srgbClr val="1D2F3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http://www.clker.com/cliparts/v/B/7/n/s/8/free-vector-person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320675" y="842228"/>
            <a:ext cx="11849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▶ </a:t>
            </a:r>
            <a:r>
              <a:rPr lang="ko-KR" altLang="en-US" sz="1200" b="1" dirty="0" smtClean="0"/>
              <a:t>초음파 센서</a:t>
            </a:r>
            <a:endParaRPr lang="ko-KR" altLang="en-US" sz="1200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60191" y="1272419"/>
            <a:ext cx="54006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accent2"/>
                </a:solidFill>
              </a:rPr>
              <a:t>초음파 센서</a:t>
            </a:r>
            <a:endParaRPr lang="en-US" altLang="ko-KR" sz="2400" b="1" dirty="0">
              <a:solidFill>
                <a:schemeClr val="accent2"/>
              </a:solidFill>
            </a:endParaRPr>
          </a:p>
          <a:p>
            <a:endParaRPr lang="en-US" altLang="ko-KR" sz="2400" b="1" dirty="0" smtClean="0">
              <a:solidFill>
                <a:schemeClr val="accent2"/>
              </a:solidFill>
            </a:endParaRPr>
          </a:p>
          <a:p>
            <a:r>
              <a:rPr lang="en-US" altLang="ko-KR" sz="2400" dirty="0" smtClean="0"/>
              <a:t>-</a:t>
            </a:r>
            <a:r>
              <a:rPr lang="ko-KR" altLang="en-US" sz="2400" dirty="0" smtClean="0"/>
              <a:t>초음파 </a:t>
            </a:r>
            <a:r>
              <a:rPr lang="ko-KR" altLang="en-US" sz="2400" dirty="0"/>
              <a:t>센서는 약</a:t>
            </a:r>
            <a:r>
              <a:rPr lang="ko-KR" altLang="en-US" sz="2400" dirty="0">
                <a:solidFill>
                  <a:srgbClr val="FF0000"/>
                </a:soli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</a:t>
            </a:r>
            <a:r>
              <a:rPr lang="en-US" altLang="ko-KR" sz="2400" dirty="0">
                <a:solidFill>
                  <a:srgbClr val="FF0000"/>
                </a:soli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20kHz</a:t>
            </a:r>
            <a:r>
              <a:rPr lang="ko-KR" altLang="en-US" sz="2400" dirty="0"/>
              <a:t>이상의 높은 주파수의 소리를 보낸 </a:t>
            </a:r>
            <a:r>
              <a:rPr lang="ko-KR" altLang="en-US" sz="2400" dirty="0" smtClean="0"/>
              <a:t>후</a:t>
            </a:r>
            <a:r>
              <a:rPr lang="ko-KR" altLang="en-US" sz="2400" dirty="0"/>
              <a:t> 반사되어 되돌아오는 시간차를 측정해서 거리를 측정한다</a:t>
            </a:r>
            <a:r>
              <a:rPr lang="en-US" altLang="ko-KR" sz="2400" dirty="0" smtClean="0"/>
              <a:t>.</a:t>
            </a:r>
          </a:p>
          <a:p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/>
              <a:t>-</a:t>
            </a:r>
            <a:r>
              <a:rPr lang="ko-KR" altLang="en-US" sz="2400" dirty="0" smtClean="0"/>
              <a:t>구성은</a:t>
            </a:r>
            <a:r>
              <a:rPr lang="ko-KR" altLang="en-US" sz="2400" dirty="0"/>
              <a:t>  핀은 </a:t>
            </a:r>
            <a:r>
              <a:rPr lang="en-US" altLang="ko-KR" sz="2400" dirty="0"/>
              <a:t>4</a:t>
            </a:r>
            <a:r>
              <a:rPr lang="ko-KR" altLang="en-US" sz="2400" dirty="0"/>
              <a:t>개로 되어 있고 송신부와 </a:t>
            </a:r>
            <a:r>
              <a:rPr lang="ko-KR" altLang="en-US" sz="2400" dirty="0" err="1"/>
              <a:t>수신부로</a:t>
            </a:r>
            <a:r>
              <a:rPr lang="ko-KR" altLang="en-US" sz="2400" dirty="0"/>
              <a:t> 나눠져 있다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 smtClean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r>
              <a:rPr lang="ko-KR" altLang="en-US" sz="2400" dirty="0"/>
              <a:t/>
            </a:r>
            <a:br>
              <a:rPr lang="ko-KR" altLang="en-US" sz="2400" dirty="0"/>
            </a:b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/>
              <a:t/>
            </a:r>
            <a:br>
              <a:rPr lang="en-US" altLang="ko-KR" sz="2400" dirty="0"/>
            </a:br>
            <a:endParaRPr lang="en-US" altLang="ko-KR" sz="14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27" y="1291587"/>
            <a:ext cx="3455945" cy="242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9116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>
            <a:off x="316804" y="1265828"/>
            <a:ext cx="9240837" cy="5256584"/>
          </a:xfrm>
          <a:prstGeom prst="rect">
            <a:avLst/>
          </a:prstGeom>
          <a:solidFill>
            <a:schemeClr val="accent1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6700" indent="-266700" algn="ctr">
              <a:lnSpc>
                <a:spcPct val="150000"/>
              </a:lnSpc>
              <a:tabLst>
                <a:tab pos="180975" algn="l"/>
              </a:tabLst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34" charset="0"/>
            </a:endParaRPr>
          </a:p>
        </p:txBody>
      </p:sp>
      <p:grpSp>
        <p:nvGrpSpPr>
          <p:cNvPr id="103" name="그룹 102"/>
          <p:cNvGrpSpPr/>
          <p:nvPr/>
        </p:nvGrpSpPr>
        <p:grpSpPr>
          <a:xfrm>
            <a:off x="-7734" y="203737"/>
            <a:ext cx="1610007" cy="400110"/>
            <a:chOff x="-7734" y="203737"/>
            <a:chExt cx="1610007" cy="400110"/>
          </a:xfrm>
        </p:grpSpPr>
        <p:sp>
          <p:nvSpPr>
            <p:cNvPr id="104" name="직사각형 103"/>
            <p:cNvSpPr/>
            <p:nvPr/>
          </p:nvSpPr>
          <p:spPr>
            <a:xfrm>
              <a:off x="-7734" y="203737"/>
              <a:ext cx="1566790" cy="40011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Raleway" pitchFamily="34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53240" y="203737"/>
              <a:ext cx="11490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dirty="0" smtClean="0">
                  <a:gradFill>
                    <a:gsLst>
                      <a:gs pos="100000">
                        <a:schemeClr val="bg1"/>
                      </a:gs>
                      <a:gs pos="100000">
                        <a:schemeClr val="bg1">
                          <a:lumMod val="9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atin typeface="Raleway" pitchFamily="34" charset="0"/>
                  <a:ea typeface="+mj-ea"/>
                </a:rPr>
                <a:t>Content</a:t>
              </a:r>
              <a:endParaRPr lang="ko-KR" altLang="en-US" sz="2000" dirty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+mj-ea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834809" y="249903"/>
            <a:ext cx="970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b="1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</a:rPr>
              <a:t>WALL-E</a:t>
            </a:r>
            <a:endParaRPr lang="ko-KR" altLang="en-US" sz="1600" b="1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-7734" y="584797"/>
            <a:ext cx="3755403" cy="0"/>
          </a:xfrm>
          <a:prstGeom prst="line">
            <a:avLst/>
          </a:prstGeom>
          <a:ln w="28575">
            <a:solidFill>
              <a:srgbClr val="1D2F3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http://www.clker.com/cliparts/v/B/7/n/s/8/free-vector-person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320675" y="842228"/>
            <a:ext cx="6880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▶ </a:t>
            </a:r>
            <a:r>
              <a:rPr lang="en-US" altLang="ko-KR" sz="1200" b="1" dirty="0" smtClean="0"/>
              <a:t>LCD</a:t>
            </a:r>
            <a:endParaRPr lang="ko-KR" altLang="en-US" sz="1200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60191" y="1272419"/>
            <a:ext cx="540060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chemeClr val="accent2"/>
                </a:solidFill>
              </a:rPr>
              <a:t>LCD</a:t>
            </a:r>
            <a:endParaRPr lang="en-US" altLang="ko-KR" sz="2400" b="1" dirty="0">
              <a:solidFill>
                <a:schemeClr val="accent2"/>
              </a:solidFill>
            </a:endParaRPr>
          </a:p>
          <a:p>
            <a:endParaRPr lang="en-US" altLang="ko-KR" b="1" dirty="0" smtClean="0">
              <a:solidFill>
                <a:schemeClr val="accent2"/>
              </a:solidFill>
            </a:endParaRPr>
          </a:p>
          <a:p>
            <a:r>
              <a:rPr lang="en-US" altLang="ko-KR" sz="20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-LCD</a:t>
            </a:r>
            <a:r>
              <a:rPr lang="ko-KR" altLang="en-US" sz="20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란 </a:t>
            </a:r>
            <a:r>
              <a:rPr lang="en-US" altLang="ko-KR" sz="20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Liquid Crystal Display</a:t>
            </a:r>
            <a:r>
              <a:rPr lang="ko-KR" altLang="en-US" sz="20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의 약자로 액정 표시 장치를 말합니다</a:t>
            </a:r>
            <a:r>
              <a:rPr lang="en-US" altLang="ko-KR" sz="20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. </a:t>
            </a:r>
            <a:endParaRPr lang="en-US" altLang="ko-KR" sz="2000" dirty="0" smtClean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endParaRPr lang="en-US" altLang="ko-KR" sz="2000" dirty="0" smtClean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r>
              <a:rPr lang="en-US" altLang="ko-KR" sz="20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-</a:t>
            </a:r>
            <a:r>
              <a:rPr lang="ko-KR" altLang="en-US" sz="20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액정</a:t>
            </a:r>
            <a:r>
              <a:rPr lang="en-US" altLang="ko-KR" sz="20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(Liquid Crystal)</a:t>
            </a:r>
            <a:r>
              <a:rPr lang="ko-KR" altLang="en-US" sz="20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이란 액체처럼 유체의 성질을 가지며</a:t>
            </a:r>
            <a:r>
              <a:rPr lang="en-US" altLang="ko-KR" sz="20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 </a:t>
            </a:r>
            <a:r>
              <a:rPr lang="ko-KR" altLang="en-US" sz="20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고체처럼 광학 성질을 가지는 물질을 말합니다</a:t>
            </a:r>
            <a:r>
              <a:rPr lang="en-US" altLang="ko-KR" sz="20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. </a:t>
            </a:r>
            <a:endParaRPr lang="en-US" altLang="ko-KR" sz="2000" dirty="0" smtClean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endParaRPr lang="en-US" altLang="ko-KR" sz="20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r>
              <a:rPr lang="en-US" altLang="ko-KR" sz="20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-</a:t>
            </a:r>
            <a:r>
              <a:rPr lang="ko-KR" altLang="en-US" sz="20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액정은 </a:t>
            </a:r>
            <a:r>
              <a:rPr lang="ko-KR" altLang="en-US" sz="20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전기적 신호를 가해 원하는 방향으로 배열하여 빛을 투과시키거나 차단 시킬 수 있습니다</a:t>
            </a:r>
            <a:r>
              <a:rPr lang="en-US" altLang="ko-KR" sz="20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. </a:t>
            </a:r>
          </a:p>
          <a:p>
            <a:endParaRPr lang="en-US" altLang="ko-KR" dirty="0" smtClean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r>
              <a:rPr lang="ko-KR" altLang="en-US" sz="2400" dirty="0"/>
              <a:t/>
            </a:r>
            <a:br>
              <a:rPr lang="ko-KR" altLang="en-US" sz="2400" dirty="0"/>
            </a:b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/>
              <a:t/>
            </a:r>
            <a:br>
              <a:rPr lang="en-US" altLang="ko-KR" sz="2400" dirty="0"/>
            </a:br>
            <a:endParaRPr lang="en-US" altLang="ko-KR" sz="14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75" y="1269487"/>
            <a:ext cx="3434015" cy="308501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54" y="4357438"/>
            <a:ext cx="3441036" cy="216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41266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>
            <a:off x="316804" y="1265828"/>
            <a:ext cx="9240837" cy="5256584"/>
          </a:xfrm>
          <a:prstGeom prst="rect">
            <a:avLst/>
          </a:prstGeom>
          <a:solidFill>
            <a:schemeClr val="accent1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6700" indent="-266700" algn="ctr">
              <a:lnSpc>
                <a:spcPct val="150000"/>
              </a:lnSpc>
              <a:tabLst>
                <a:tab pos="180975" algn="l"/>
              </a:tabLst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34" charset="0"/>
            </a:endParaRPr>
          </a:p>
        </p:txBody>
      </p:sp>
      <p:grpSp>
        <p:nvGrpSpPr>
          <p:cNvPr id="103" name="그룹 102"/>
          <p:cNvGrpSpPr/>
          <p:nvPr/>
        </p:nvGrpSpPr>
        <p:grpSpPr>
          <a:xfrm>
            <a:off x="-7734" y="203737"/>
            <a:ext cx="1610007" cy="400110"/>
            <a:chOff x="-7734" y="203737"/>
            <a:chExt cx="1610007" cy="400110"/>
          </a:xfrm>
        </p:grpSpPr>
        <p:sp>
          <p:nvSpPr>
            <p:cNvPr id="104" name="직사각형 103"/>
            <p:cNvSpPr/>
            <p:nvPr/>
          </p:nvSpPr>
          <p:spPr>
            <a:xfrm>
              <a:off x="-7734" y="203737"/>
              <a:ext cx="1566790" cy="40011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Raleway" pitchFamily="34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53240" y="203737"/>
              <a:ext cx="11490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dirty="0" smtClean="0">
                  <a:gradFill>
                    <a:gsLst>
                      <a:gs pos="100000">
                        <a:schemeClr val="bg1"/>
                      </a:gs>
                      <a:gs pos="100000">
                        <a:schemeClr val="bg1">
                          <a:lumMod val="9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atin typeface="Raleway" pitchFamily="34" charset="0"/>
                  <a:ea typeface="+mj-ea"/>
                </a:rPr>
                <a:t>Content</a:t>
              </a:r>
              <a:endParaRPr lang="ko-KR" altLang="en-US" sz="2000" dirty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+mj-ea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834809" y="249903"/>
            <a:ext cx="970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b="1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</a:rPr>
              <a:t>WALL-E</a:t>
            </a:r>
            <a:endParaRPr lang="ko-KR" altLang="en-US" sz="1600" b="1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-7734" y="584797"/>
            <a:ext cx="3755403" cy="0"/>
          </a:xfrm>
          <a:prstGeom prst="line">
            <a:avLst/>
          </a:prstGeom>
          <a:ln w="28575">
            <a:solidFill>
              <a:srgbClr val="1D2F3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http://www.clker.com/cliparts/v/B/7/n/s/8/free-vector-person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320675" y="842228"/>
            <a:ext cx="6799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▶ </a:t>
            </a:r>
            <a:r>
              <a:rPr lang="ko-KR" altLang="en-US" sz="1200" b="1" dirty="0" err="1" smtClean="0"/>
              <a:t>부저</a:t>
            </a:r>
            <a:endParaRPr lang="ko-KR" altLang="en-US" sz="1200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12839" y="1570407"/>
            <a:ext cx="604480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 smtClean="0">
                <a:solidFill>
                  <a:schemeClr val="accent2"/>
                </a:solidFill>
              </a:rPr>
              <a:t>부저</a:t>
            </a:r>
            <a:endParaRPr lang="en-US" altLang="ko-KR" sz="2400" b="1" dirty="0">
              <a:solidFill>
                <a:schemeClr val="accent2"/>
              </a:solidFill>
            </a:endParaRPr>
          </a:p>
          <a:p>
            <a:endParaRPr lang="en-US" altLang="ko-KR" b="1" dirty="0" smtClean="0">
              <a:solidFill>
                <a:schemeClr val="accent2"/>
              </a:solidFill>
            </a:endParaRPr>
          </a:p>
          <a:p>
            <a:r>
              <a:rPr lang="en-US" altLang="ko-KR" sz="2400" dirty="0" smtClean="0"/>
              <a:t>-</a:t>
            </a:r>
            <a:r>
              <a:rPr lang="ko-KR" altLang="en-US" sz="2400" dirty="0" smtClean="0"/>
              <a:t> </a:t>
            </a:r>
            <a:r>
              <a:rPr lang="ko-KR" altLang="en-US" sz="2400" dirty="0" err="1"/>
              <a:t>부저는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압전효과에</a:t>
            </a:r>
            <a:r>
              <a:rPr lang="ko-KR" altLang="en-US" sz="2400" dirty="0"/>
              <a:t> 의해서 음향을 출력하는 전자 </a:t>
            </a:r>
            <a:r>
              <a:rPr lang="ko-KR" altLang="en-US" sz="2400" dirty="0" smtClean="0"/>
              <a:t>부품</a:t>
            </a:r>
            <a:endParaRPr lang="en-US" altLang="ko-KR" sz="2400" dirty="0" smtClean="0"/>
          </a:p>
          <a:p>
            <a:endParaRPr lang="en-US" altLang="ko-KR" sz="2400" b="1" dirty="0"/>
          </a:p>
          <a:p>
            <a:r>
              <a:rPr lang="en-US" altLang="ko-KR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- </a:t>
            </a:r>
            <a:r>
              <a:rPr lang="ko-KR" altLang="en-US" sz="2400" dirty="0"/>
              <a:t> </a:t>
            </a:r>
            <a:r>
              <a:rPr lang="ko-KR" altLang="en-US" sz="2400" dirty="0" err="1" smtClean="0"/>
              <a:t>부저는</a:t>
            </a:r>
            <a:r>
              <a:rPr lang="ko-KR" altLang="en-US" sz="2400" dirty="0" smtClean="0"/>
              <a:t> </a:t>
            </a:r>
            <a:r>
              <a:rPr lang="ko-KR" altLang="en-US" sz="2400" dirty="0" err="1"/>
              <a:t>피에조</a:t>
            </a:r>
            <a:r>
              <a:rPr lang="ko-KR" altLang="en-US" sz="2400" dirty="0"/>
              <a:t> 효과를 이용하여 소리를 </a:t>
            </a:r>
            <a:r>
              <a:rPr lang="ko-KR" altLang="en-US" sz="2400" dirty="0" smtClean="0"/>
              <a:t>내는데 </a:t>
            </a:r>
            <a:r>
              <a:rPr lang="ko-KR" altLang="en-US" sz="2400" dirty="0"/>
              <a:t>전압을 걸어주면 얇은 막의 미세한 떨림으로 소리를 </a:t>
            </a:r>
            <a:r>
              <a:rPr lang="ko-KR" altLang="en-US" sz="2400" dirty="0" smtClean="0"/>
              <a:t>내게 된다</a:t>
            </a:r>
            <a:r>
              <a:rPr lang="en-US" altLang="ko-KR" sz="2400" dirty="0" smtClean="0"/>
              <a:t>.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/>
            </a:r>
            <a:b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</a:b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/>
            </a:r>
            <a:b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</a:br>
            <a:r>
              <a:rPr lang="en-US" altLang="ko-KR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- LED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와 마찬가지로 다리가 긴 쪽이 </a:t>
            </a:r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+ </a:t>
            </a:r>
            <a:r>
              <a:rPr lang="ko-KR" altLang="en-US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극성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/>
            </a:r>
            <a:b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</a:b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/>
              <a:t/>
            </a:r>
            <a:br>
              <a:rPr lang="en-US" altLang="ko-KR" sz="2400" dirty="0"/>
            </a:br>
            <a:endParaRPr lang="en-US" altLang="ko-KR" sz="14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54" y="1272418"/>
            <a:ext cx="2743837" cy="274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15773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280592" y="1268760"/>
            <a:ext cx="3960440" cy="396044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Raleway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8125" y="3416310"/>
            <a:ext cx="39492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42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Adobe 고딕 Std B" pitchFamily="34" charset="-127"/>
                <a:ea typeface="Adobe 고딕 Std B" pitchFamily="34" charset="-127"/>
              </a:rPr>
              <a:t>회로도</a:t>
            </a:r>
            <a:endParaRPr lang="ko-KR" altLang="en-US" sz="4200" dirty="0">
              <a:gradFill>
                <a:gsLst>
                  <a:gs pos="100000">
                    <a:schemeClr val="bg1"/>
                  </a:gs>
                  <a:gs pos="100000">
                    <a:schemeClr val="bg1">
                      <a:lumMod val="90000"/>
                    </a:schemeClr>
                  </a:gs>
                </a:gsLst>
                <a:path path="circle">
                  <a:fillToRect l="100000" t="100000"/>
                </a:path>
              </a:gra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8124" y="1412776"/>
            <a:ext cx="244827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0" spc="-1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Noto Sans Korean Bold" pitchFamily="34" charset="-127"/>
              </a:rPr>
              <a:t>05</a:t>
            </a:r>
            <a:endParaRPr lang="ko-KR" altLang="en-US" sz="11500" spc="-100" dirty="0">
              <a:gradFill>
                <a:gsLst>
                  <a:gs pos="100000">
                    <a:schemeClr val="bg1"/>
                  </a:gs>
                  <a:gs pos="100000">
                    <a:schemeClr val="bg1">
                      <a:lumMod val="90000"/>
                    </a:schemeClr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  <a:ea typeface="Noto Sans Korean Bold" pitchFamily="34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779827" y="3012718"/>
            <a:ext cx="345826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496242"/>
              </p:ext>
            </p:extLst>
          </p:nvPr>
        </p:nvGraphicFramePr>
        <p:xfrm>
          <a:off x="5817096" y="4700228"/>
          <a:ext cx="2664296" cy="960106"/>
        </p:xfrm>
        <a:graphic>
          <a:graphicData uri="http://schemas.openxmlformats.org/drawingml/2006/table">
            <a:tbl>
              <a:tblPr firstRow="1" bandRow="1"/>
              <a:tblGrid>
                <a:gridCol w="731368"/>
                <a:gridCol w="1932928"/>
              </a:tblGrid>
              <a:tr h="480053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1.</a:t>
                      </a:r>
                      <a:endParaRPr lang="ko-KR" altLang="en-US" sz="16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20160784 </a:t>
                      </a:r>
                      <a:r>
                        <a:rPr lang="ko-KR" altLang="en-US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임태양</a:t>
                      </a:r>
                      <a:endParaRPr lang="ko-KR" altLang="en-US" sz="16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80053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2.</a:t>
                      </a:r>
                      <a:endParaRPr lang="ko-KR" altLang="en-US" sz="16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20171576</a:t>
                      </a:r>
                      <a:r>
                        <a:rPr lang="en-US" altLang="ko-KR" sz="1600" baseline="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 </a:t>
                      </a:r>
                      <a:r>
                        <a:rPr lang="ko-KR" altLang="en-US" sz="1600" baseline="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신현성</a:t>
                      </a:r>
                      <a:endParaRPr lang="ko-KR" altLang="en-US" sz="16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3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>
            <a:off x="316804" y="1265828"/>
            <a:ext cx="9240837" cy="5256584"/>
          </a:xfrm>
          <a:prstGeom prst="rect">
            <a:avLst/>
          </a:prstGeom>
          <a:solidFill>
            <a:schemeClr val="accent1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6700" indent="-266700" algn="ctr">
              <a:lnSpc>
                <a:spcPct val="150000"/>
              </a:lnSpc>
              <a:tabLst>
                <a:tab pos="180975" algn="l"/>
              </a:tabLst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34" charset="0"/>
            </a:endParaRPr>
          </a:p>
        </p:txBody>
      </p:sp>
      <p:grpSp>
        <p:nvGrpSpPr>
          <p:cNvPr id="103" name="그룹 102"/>
          <p:cNvGrpSpPr/>
          <p:nvPr/>
        </p:nvGrpSpPr>
        <p:grpSpPr>
          <a:xfrm>
            <a:off x="-7734" y="203737"/>
            <a:ext cx="1610007" cy="400110"/>
            <a:chOff x="-7734" y="203737"/>
            <a:chExt cx="1610007" cy="400110"/>
          </a:xfrm>
        </p:grpSpPr>
        <p:sp>
          <p:nvSpPr>
            <p:cNvPr id="104" name="직사각형 103"/>
            <p:cNvSpPr/>
            <p:nvPr/>
          </p:nvSpPr>
          <p:spPr>
            <a:xfrm>
              <a:off x="-7734" y="203737"/>
              <a:ext cx="1566790" cy="40011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Raleway" pitchFamily="34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53240" y="203737"/>
              <a:ext cx="11490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dirty="0" smtClean="0">
                  <a:gradFill>
                    <a:gsLst>
                      <a:gs pos="100000">
                        <a:schemeClr val="bg1"/>
                      </a:gs>
                      <a:gs pos="100000">
                        <a:schemeClr val="bg1">
                          <a:lumMod val="9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atin typeface="Raleway" pitchFamily="34" charset="0"/>
                  <a:ea typeface="+mj-ea"/>
                </a:rPr>
                <a:t>Content</a:t>
              </a:r>
              <a:endParaRPr lang="ko-KR" altLang="en-US" sz="2000" dirty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+mj-ea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834809" y="249903"/>
            <a:ext cx="970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b="1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</a:rPr>
              <a:t>WALL-E</a:t>
            </a:r>
            <a:endParaRPr lang="ko-KR" altLang="en-US" sz="1600" b="1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-7734" y="584797"/>
            <a:ext cx="3755403" cy="0"/>
          </a:xfrm>
          <a:prstGeom prst="line">
            <a:avLst/>
          </a:prstGeom>
          <a:ln w="28575">
            <a:solidFill>
              <a:srgbClr val="1D2F3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http://www.clker.com/cliparts/v/B/7/n/s/8/free-vector-person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320675" y="842228"/>
            <a:ext cx="83388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▶ </a:t>
            </a:r>
            <a:r>
              <a:rPr lang="ko-KR" altLang="en-US" sz="1200" b="1" dirty="0" smtClean="0"/>
              <a:t>회로도</a:t>
            </a:r>
            <a:endParaRPr lang="ko-KR" altLang="en-US" sz="1200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04" y="1269487"/>
            <a:ext cx="9268906" cy="52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280592" y="1268760"/>
            <a:ext cx="3960440" cy="396044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Raleway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8125" y="3416310"/>
            <a:ext cx="39492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42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Adobe 고딕 Std B" pitchFamily="34" charset="-127"/>
                <a:ea typeface="Adobe 고딕 Std B" pitchFamily="34" charset="-127"/>
              </a:rPr>
              <a:t>프로그램 소스</a:t>
            </a:r>
            <a:endParaRPr lang="ko-KR" altLang="en-US" sz="4200" dirty="0">
              <a:gradFill>
                <a:gsLst>
                  <a:gs pos="100000">
                    <a:schemeClr val="bg1"/>
                  </a:gs>
                  <a:gs pos="100000">
                    <a:schemeClr val="bg1">
                      <a:lumMod val="90000"/>
                    </a:schemeClr>
                  </a:gs>
                </a:gsLst>
                <a:path path="circle">
                  <a:fillToRect l="100000" t="100000"/>
                </a:path>
              </a:gra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8124" y="1412776"/>
            <a:ext cx="244827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0" spc="-1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Noto Sans Korean Bold" pitchFamily="34" charset="-127"/>
              </a:rPr>
              <a:t>06</a:t>
            </a:r>
            <a:endParaRPr lang="ko-KR" altLang="en-US" sz="11500" spc="-100" dirty="0">
              <a:gradFill>
                <a:gsLst>
                  <a:gs pos="100000">
                    <a:schemeClr val="bg1"/>
                  </a:gs>
                  <a:gs pos="100000">
                    <a:schemeClr val="bg1">
                      <a:lumMod val="90000"/>
                    </a:schemeClr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  <a:ea typeface="Noto Sans Korean Bold" pitchFamily="34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779827" y="3012718"/>
            <a:ext cx="345826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382047"/>
              </p:ext>
            </p:extLst>
          </p:nvPr>
        </p:nvGraphicFramePr>
        <p:xfrm>
          <a:off x="5817096" y="4700228"/>
          <a:ext cx="2664296" cy="960106"/>
        </p:xfrm>
        <a:graphic>
          <a:graphicData uri="http://schemas.openxmlformats.org/drawingml/2006/table">
            <a:tbl>
              <a:tblPr firstRow="1" bandRow="1"/>
              <a:tblGrid>
                <a:gridCol w="731368"/>
                <a:gridCol w="1932928"/>
              </a:tblGrid>
              <a:tr h="480053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1.</a:t>
                      </a:r>
                      <a:endParaRPr lang="ko-KR" altLang="en-US" sz="16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20160784 </a:t>
                      </a:r>
                      <a:r>
                        <a:rPr lang="ko-KR" altLang="en-US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임태양</a:t>
                      </a:r>
                      <a:endParaRPr lang="ko-KR" altLang="en-US" sz="16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80053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2.</a:t>
                      </a:r>
                      <a:endParaRPr lang="ko-KR" altLang="en-US" sz="16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20171576</a:t>
                      </a:r>
                      <a:r>
                        <a:rPr lang="en-US" altLang="ko-KR" sz="1600" baseline="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 </a:t>
                      </a:r>
                      <a:r>
                        <a:rPr lang="ko-KR" altLang="en-US" sz="1600" baseline="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신현성</a:t>
                      </a:r>
                      <a:endParaRPr lang="ko-KR" altLang="en-US" sz="16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95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>
            <a:off x="320675" y="1268760"/>
            <a:ext cx="9240837" cy="5256584"/>
          </a:xfrm>
          <a:prstGeom prst="rect">
            <a:avLst/>
          </a:prstGeom>
          <a:solidFill>
            <a:schemeClr val="accent1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6700" indent="-266700" algn="ctr">
              <a:lnSpc>
                <a:spcPct val="150000"/>
              </a:lnSpc>
              <a:tabLst>
                <a:tab pos="180975" algn="l"/>
              </a:tabLst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34" charset="0"/>
            </a:endParaRPr>
          </a:p>
        </p:txBody>
      </p:sp>
      <p:grpSp>
        <p:nvGrpSpPr>
          <p:cNvPr id="103" name="그룹 102"/>
          <p:cNvGrpSpPr/>
          <p:nvPr/>
        </p:nvGrpSpPr>
        <p:grpSpPr>
          <a:xfrm>
            <a:off x="-7734" y="203737"/>
            <a:ext cx="1610007" cy="400110"/>
            <a:chOff x="-7734" y="203737"/>
            <a:chExt cx="1610007" cy="400110"/>
          </a:xfrm>
        </p:grpSpPr>
        <p:sp>
          <p:nvSpPr>
            <p:cNvPr id="104" name="직사각형 103"/>
            <p:cNvSpPr/>
            <p:nvPr/>
          </p:nvSpPr>
          <p:spPr>
            <a:xfrm>
              <a:off x="-7734" y="203737"/>
              <a:ext cx="1566790" cy="40011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Raleway" pitchFamily="34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53240" y="203737"/>
              <a:ext cx="11490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dirty="0" smtClean="0">
                  <a:gradFill>
                    <a:gsLst>
                      <a:gs pos="100000">
                        <a:schemeClr val="bg1"/>
                      </a:gs>
                      <a:gs pos="100000">
                        <a:schemeClr val="bg1">
                          <a:lumMod val="9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atin typeface="Raleway" pitchFamily="34" charset="0"/>
                  <a:ea typeface="+mj-ea"/>
                </a:rPr>
                <a:t>Content</a:t>
              </a:r>
              <a:endParaRPr lang="ko-KR" altLang="en-US" sz="2000" dirty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+mj-ea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834809" y="249903"/>
            <a:ext cx="970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b="1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</a:rPr>
              <a:t>WALL-E</a:t>
            </a:r>
            <a:endParaRPr lang="ko-KR" altLang="en-US" sz="1600" b="1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-7734" y="584797"/>
            <a:ext cx="3755403" cy="0"/>
          </a:xfrm>
          <a:prstGeom prst="line">
            <a:avLst/>
          </a:prstGeom>
          <a:ln w="28575">
            <a:solidFill>
              <a:srgbClr val="1D2F3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http://www.clker.com/cliparts/v/B/7/n/s/8/free-vector-person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320675" y="842228"/>
            <a:ext cx="6799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▶ </a:t>
            </a:r>
            <a:r>
              <a:rPr lang="ko-KR" altLang="en-US" sz="1200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소감</a:t>
            </a:r>
            <a:endParaRPr lang="ko-KR" altLang="en-US" sz="1200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1481" y="1236302"/>
            <a:ext cx="420947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#include &lt;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Wire.h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&gt; 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#include &lt;LiquidCrystal_I2C.h&gt;</a:t>
            </a:r>
          </a:p>
          <a:p>
            <a:endParaRPr lang="en-US" altLang="ko-KR" sz="14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#define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trigPin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6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#define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echoPin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5 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LiquidCrystal_I2C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lcd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(0x3F, 16, 2);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void setup() 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{ 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Serial.begin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(9600); 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pinMode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trigPin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 OUTPUT); 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pinMode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echoPin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 INPUT); 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pinMode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(buzzer , OUTPUT);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lcd.init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(); 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} </a:t>
            </a:r>
          </a:p>
          <a:p>
            <a:endParaRPr lang="en-US" altLang="ko-KR" sz="14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long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microsecondsToInches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(long microseconds)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{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// According to Parallax's datasheet for the PING))), there are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// 73.746 microseconds per inch 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return microseconds / 74 / 2;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}</a:t>
            </a:r>
          </a:p>
          <a:p>
            <a:endParaRPr lang="en-US" altLang="ko-KR" sz="14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4968" y="1268760"/>
            <a:ext cx="489654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long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microsecondsToCentimeters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(long microseconds)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{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// The speed of sound is 340 m/s or 29 microseconds per centimeter.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// The ping travels out and back, so to find the distance of the object we take half of the distance travelled.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return microseconds / 29 / 2;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}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void loop() 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{ 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long duration, inches, cm;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lcd.backlight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(); 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digitalWrite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trigPin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 LOW);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delayMicroseconds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(2); 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digitalWrite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trigPin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 HIGH);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delayMicroseconds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(10); 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digitalWrite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trigPin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 LOW);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duration =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pulseIn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echoPin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 HIGH); </a:t>
            </a:r>
          </a:p>
          <a:p>
            <a:endParaRPr lang="en-US" altLang="ko-KR" sz="14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// convert the time into a distance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inches =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microsecondsToInches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(duration);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cm =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microsecondsToCentimeters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(duration);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877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>
            <a:off x="320675" y="1268760"/>
            <a:ext cx="9240837" cy="5256584"/>
          </a:xfrm>
          <a:prstGeom prst="rect">
            <a:avLst/>
          </a:prstGeom>
          <a:solidFill>
            <a:schemeClr val="accent1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6700" indent="-266700" algn="ctr">
              <a:lnSpc>
                <a:spcPct val="150000"/>
              </a:lnSpc>
              <a:tabLst>
                <a:tab pos="180975" algn="l"/>
              </a:tabLst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34" charset="0"/>
            </a:endParaRPr>
          </a:p>
        </p:txBody>
      </p:sp>
      <p:grpSp>
        <p:nvGrpSpPr>
          <p:cNvPr id="103" name="그룹 102"/>
          <p:cNvGrpSpPr/>
          <p:nvPr/>
        </p:nvGrpSpPr>
        <p:grpSpPr>
          <a:xfrm>
            <a:off x="-7734" y="203737"/>
            <a:ext cx="1610007" cy="400110"/>
            <a:chOff x="-7734" y="203737"/>
            <a:chExt cx="1610007" cy="400110"/>
          </a:xfrm>
        </p:grpSpPr>
        <p:sp>
          <p:nvSpPr>
            <p:cNvPr id="104" name="직사각형 103"/>
            <p:cNvSpPr/>
            <p:nvPr/>
          </p:nvSpPr>
          <p:spPr>
            <a:xfrm>
              <a:off x="-7734" y="203737"/>
              <a:ext cx="1566790" cy="40011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Raleway" pitchFamily="34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53240" y="203737"/>
              <a:ext cx="11490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dirty="0" smtClean="0">
                  <a:gradFill>
                    <a:gsLst>
                      <a:gs pos="100000">
                        <a:schemeClr val="bg1"/>
                      </a:gs>
                      <a:gs pos="100000">
                        <a:schemeClr val="bg1">
                          <a:lumMod val="9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atin typeface="Raleway" pitchFamily="34" charset="0"/>
                  <a:ea typeface="+mj-ea"/>
                </a:rPr>
                <a:t>Content</a:t>
              </a:r>
              <a:endParaRPr lang="ko-KR" altLang="en-US" sz="2000" dirty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+mj-ea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834809" y="249903"/>
            <a:ext cx="970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b="1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</a:rPr>
              <a:t>WALL-E</a:t>
            </a:r>
            <a:endParaRPr lang="ko-KR" altLang="en-US" sz="1600" b="1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-7734" y="584797"/>
            <a:ext cx="3755403" cy="0"/>
          </a:xfrm>
          <a:prstGeom prst="line">
            <a:avLst/>
          </a:prstGeom>
          <a:ln w="28575">
            <a:solidFill>
              <a:srgbClr val="1D2F3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http://www.clker.com/cliparts/v/B/7/n/s/8/free-vector-person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320675" y="842228"/>
            <a:ext cx="6799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▶ </a:t>
            </a:r>
            <a:r>
              <a:rPr lang="ko-KR" altLang="en-US" sz="1200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소감</a:t>
            </a:r>
            <a:endParaRPr lang="ko-KR" altLang="en-US" sz="1200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1481" y="1265101"/>
            <a:ext cx="925003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if (cm&lt;=70){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digitalWrite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(13, HIGH); //PWM </a:t>
            </a:r>
            <a:r>
              <a:rPr lang="ko-KR" altLang="en-US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제어</a:t>
            </a:r>
          </a:p>
          <a:p>
            <a:r>
              <a:rPr lang="ko-KR" altLang="en-US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digitalWrite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(12, HIGH); //</a:t>
            </a:r>
            <a:r>
              <a:rPr lang="ko-KR" altLang="en-US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모터 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ON (</a:t>
            </a:r>
            <a:r>
              <a:rPr lang="ko-KR" altLang="en-US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모터 구동 방향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)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digitalWrite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(11, LOW);  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tone(2, 262); // ‘</a:t>
            </a:r>
            <a:r>
              <a:rPr lang="ko-KR" altLang="en-US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도’음 발생</a:t>
            </a:r>
          </a:p>
          <a:p>
            <a:r>
              <a:rPr lang="ko-KR" altLang="en-US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lcd.clear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();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lcd.setCursor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(5,0);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</a:t>
            </a:r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lcd.print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("Open");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delay(1000);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}else{</a:t>
            </a:r>
          </a:p>
          <a:p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digitalWrite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(13, HIGH); //PWM </a:t>
            </a:r>
            <a:r>
              <a:rPr lang="ko-KR" altLang="en-US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제어</a:t>
            </a:r>
          </a:p>
          <a:p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digitalWrite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(11, HIGH); //</a:t>
            </a:r>
            <a:r>
              <a:rPr lang="ko-KR" altLang="en-US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모터 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ON (</a:t>
            </a:r>
            <a:r>
              <a:rPr lang="ko-KR" altLang="en-US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모터 구동 방향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)</a:t>
            </a:r>
          </a:p>
          <a:p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digitalWrite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(12, LOW);   </a:t>
            </a:r>
          </a:p>
          <a:p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noTone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(2);</a:t>
            </a:r>
          </a:p>
          <a:p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lcd.clear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();</a:t>
            </a:r>
          </a:p>
          <a:p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lcd.setCursor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(5,0);</a:t>
            </a:r>
          </a:p>
          <a:p>
            <a:r>
              <a:rPr lang="en-US" altLang="ko-KR" sz="14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lcd.print</a:t>
            </a:r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("Close");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}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delay(100); </a:t>
            </a:r>
          </a:p>
          <a:p>
            <a:r>
              <a:rPr lang="en-US" altLang="ko-KR" sz="1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90544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>
            <a:off x="320675" y="1268760"/>
            <a:ext cx="9240837" cy="5256584"/>
          </a:xfrm>
          <a:prstGeom prst="rect">
            <a:avLst/>
          </a:prstGeom>
          <a:solidFill>
            <a:schemeClr val="accent1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6700" indent="-266700" algn="ctr">
              <a:lnSpc>
                <a:spcPct val="150000"/>
              </a:lnSpc>
              <a:tabLst>
                <a:tab pos="180975" algn="l"/>
              </a:tabLst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34" charset="0"/>
            </a:endParaRPr>
          </a:p>
        </p:txBody>
      </p:sp>
      <p:grpSp>
        <p:nvGrpSpPr>
          <p:cNvPr id="103" name="그룹 102"/>
          <p:cNvGrpSpPr/>
          <p:nvPr/>
        </p:nvGrpSpPr>
        <p:grpSpPr>
          <a:xfrm>
            <a:off x="-7734" y="203737"/>
            <a:ext cx="1610007" cy="400110"/>
            <a:chOff x="-7734" y="203737"/>
            <a:chExt cx="1610007" cy="400110"/>
          </a:xfrm>
        </p:grpSpPr>
        <p:sp>
          <p:nvSpPr>
            <p:cNvPr id="104" name="직사각형 103"/>
            <p:cNvSpPr/>
            <p:nvPr/>
          </p:nvSpPr>
          <p:spPr>
            <a:xfrm>
              <a:off x="-7734" y="203737"/>
              <a:ext cx="1566790" cy="40011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Raleway" pitchFamily="34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53240" y="203737"/>
              <a:ext cx="11490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dirty="0" smtClean="0">
                  <a:gradFill>
                    <a:gsLst>
                      <a:gs pos="100000">
                        <a:schemeClr val="bg1"/>
                      </a:gs>
                      <a:gs pos="100000">
                        <a:schemeClr val="bg1">
                          <a:lumMod val="9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atin typeface="Raleway" pitchFamily="34" charset="0"/>
                  <a:ea typeface="+mj-ea"/>
                </a:rPr>
                <a:t>Content</a:t>
              </a:r>
              <a:endParaRPr lang="ko-KR" altLang="en-US" sz="2000" dirty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+mj-ea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834809" y="249903"/>
            <a:ext cx="970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b="1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</a:rPr>
              <a:t>WALL-E</a:t>
            </a:r>
            <a:endParaRPr lang="ko-KR" altLang="en-US" sz="1600" b="1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-7734" y="584797"/>
            <a:ext cx="3755403" cy="0"/>
          </a:xfrm>
          <a:prstGeom prst="line">
            <a:avLst/>
          </a:prstGeom>
          <a:ln w="28575">
            <a:solidFill>
              <a:srgbClr val="1D2F3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http://www.clker.com/cliparts/v/B/7/n/s/8/free-vector-person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320675" y="842228"/>
            <a:ext cx="9877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▶ </a:t>
            </a:r>
            <a:r>
              <a:rPr lang="ko-KR" altLang="en-US" sz="1200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시연영</a:t>
            </a:r>
            <a:r>
              <a:rPr lang="ko-KR" altLang="en-US" sz="1200" dirty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상</a:t>
            </a:r>
          </a:p>
        </p:txBody>
      </p:sp>
      <p:pic>
        <p:nvPicPr>
          <p:cNvPr id="6" name="ads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59056" y="1772816"/>
            <a:ext cx="68580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36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280592" y="1268760"/>
            <a:ext cx="3960440" cy="396044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Raleway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8125" y="3416310"/>
            <a:ext cx="39492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42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Adobe 고딕 Std B" pitchFamily="34" charset="-127"/>
                <a:ea typeface="Adobe 고딕 Std B" pitchFamily="34" charset="-127"/>
              </a:rPr>
              <a:t>소감</a:t>
            </a:r>
            <a:endParaRPr lang="ko-KR" altLang="en-US" sz="4200" dirty="0">
              <a:gradFill>
                <a:gsLst>
                  <a:gs pos="100000">
                    <a:schemeClr val="bg1"/>
                  </a:gs>
                  <a:gs pos="100000">
                    <a:schemeClr val="bg1">
                      <a:lumMod val="90000"/>
                    </a:schemeClr>
                  </a:gs>
                </a:gsLst>
                <a:path path="circle">
                  <a:fillToRect l="100000" t="100000"/>
                </a:path>
              </a:gra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8124" y="1412776"/>
            <a:ext cx="244827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0" spc="-100" dirty="0" smtClean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Noto Sans Korean Bold" pitchFamily="34" charset="-127"/>
              </a:rPr>
              <a:t>07</a:t>
            </a:r>
            <a:endParaRPr lang="ko-KR" altLang="en-US" sz="11500" spc="-100" dirty="0">
              <a:gradFill>
                <a:gsLst>
                  <a:gs pos="100000">
                    <a:schemeClr val="bg1"/>
                  </a:gs>
                  <a:gs pos="100000">
                    <a:schemeClr val="bg1">
                      <a:lumMod val="90000"/>
                    </a:schemeClr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  <a:ea typeface="Noto Sans Korean Bold" pitchFamily="34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779827" y="3012718"/>
            <a:ext cx="345826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075488"/>
              </p:ext>
            </p:extLst>
          </p:nvPr>
        </p:nvGraphicFramePr>
        <p:xfrm>
          <a:off x="5817096" y="4700228"/>
          <a:ext cx="2664296" cy="960106"/>
        </p:xfrm>
        <a:graphic>
          <a:graphicData uri="http://schemas.openxmlformats.org/drawingml/2006/table">
            <a:tbl>
              <a:tblPr firstRow="1" bandRow="1"/>
              <a:tblGrid>
                <a:gridCol w="731368"/>
                <a:gridCol w="1932928"/>
              </a:tblGrid>
              <a:tr h="480053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1.</a:t>
                      </a:r>
                      <a:endParaRPr lang="ko-KR" altLang="en-US" sz="16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20160784 </a:t>
                      </a:r>
                      <a:r>
                        <a:rPr lang="ko-KR" altLang="en-US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임태양</a:t>
                      </a:r>
                      <a:endParaRPr lang="ko-KR" altLang="en-US" sz="16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80053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1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2.</a:t>
                      </a:r>
                      <a:endParaRPr lang="ko-KR" altLang="en-US" sz="1600" b="1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20171576</a:t>
                      </a:r>
                      <a:r>
                        <a:rPr lang="en-US" altLang="ko-KR" sz="1600" baseline="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 </a:t>
                      </a:r>
                      <a:r>
                        <a:rPr lang="ko-KR" altLang="en-US" sz="1600" baseline="0" dirty="0" smtClean="0">
                          <a:gradFill>
                            <a:gsLst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bg1">
                                  <a:lumMod val="90000"/>
                                </a:schemeClr>
                              </a:gs>
                            </a:gsLst>
                            <a:path path="circle">
                              <a:fillToRect l="100000" t="100000"/>
                            </a:path>
                          </a:gradFill>
                          <a:latin typeface="Adobe 고딕 Std B" pitchFamily="34" charset="-127"/>
                          <a:ea typeface="Adobe 고딕 Std B" pitchFamily="34" charset="-127"/>
                        </a:rPr>
                        <a:t>신현성</a:t>
                      </a:r>
                      <a:endParaRPr lang="ko-KR" altLang="en-US" sz="1600" dirty="0">
                        <a:gradFill>
                          <a:gsLst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bg1">
                                <a:lumMod val="90000"/>
                              </a:schemeClr>
                            </a:gs>
                          </a:gsLst>
                          <a:path path="circle">
                            <a:fillToRect l="100000" t="100000"/>
                          </a:path>
                        </a:gra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807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>
            <a:off x="320675" y="1268760"/>
            <a:ext cx="9240837" cy="5256584"/>
          </a:xfrm>
          <a:prstGeom prst="rect">
            <a:avLst/>
          </a:prstGeom>
          <a:solidFill>
            <a:schemeClr val="accent1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6700" indent="-266700" algn="ctr">
              <a:lnSpc>
                <a:spcPct val="150000"/>
              </a:lnSpc>
              <a:tabLst>
                <a:tab pos="180975" algn="l"/>
              </a:tabLst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34" charset="0"/>
            </a:endParaRPr>
          </a:p>
        </p:txBody>
      </p:sp>
      <p:grpSp>
        <p:nvGrpSpPr>
          <p:cNvPr id="103" name="그룹 102"/>
          <p:cNvGrpSpPr/>
          <p:nvPr/>
        </p:nvGrpSpPr>
        <p:grpSpPr>
          <a:xfrm>
            <a:off x="-7734" y="203737"/>
            <a:ext cx="1610007" cy="400110"/>
            <a:chOff x="-7734" y="203737"/>
            <a:chExt cx="1610007" cy="400110"/>
          </a:xfrm>
        </p:grpSpPr>
        <p:sp>
          <p:nvSpPr>
            <p:cNvPr id="104" name="직사각형 103"/>
            <p:cNvSpPr/>
            <p:nvPr/>
          </p:nvSpPr>
          <p:spPr>
            <a:xfrm>
              <a:off x="-7734" y="203737"/>
              <a:ext cx="1566790" cy="40011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Raleway" pitchFamily="34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53240" y="203737"/>
              <a:ext cx="11490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dirty="0" smtClean="0">
                  <a:gradFill>
                    <a:gsLst>
                      <a:gs pos="100000">
                        <a:schemeClr val="bg1"/>
                      </a:gs>
                      <a:gs pos="100000">
                        <a:schemeClr val="bg1">
                          <a:lumMod val="9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atin typeface="Raleway" pitchFamily="34" charset="0"/>
                  <a:ea typeface="+mj-ea"/>
                </a:rPr>
                <a:t>Content</a:t>
              </a:r>
              <a:endParaRPr lang="ko-KR" altLang="en-US" sz="2000" dirty="0">
                <a:gradFill>
                  <a:gsLst>
                    <a:gs pos="100000">
                      <a:schemeClr val="bg1"/>
                    </a:gs>
                    <a:gs pos="100000">
                      <a:schemeClr val="bg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  <a:ea typeface="+mj-ea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834809" y="249903"/>
            <a:ext cx="970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b="1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Raleway" pitchFamily="34" charset="0"/>
              </a:rPr>
              <a:t>WALL-E</a:t>
            </a:r>
            <a:endParaRPr lang="ko-KR" altLang="en-US" sz="1600" b="1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Raleway" pitchFamily="34" charset="0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-7734" y="584797"/>
            <a:ext cx="3755403" cy="0"/>
          </a:xfrm>
          <a:prstGeom prst="line">
            <a:avLst/>
          </a:prstGeom>
          <a:ln w="28575">
            <a:solidFill>
              <a:srgbClr val="1D2F3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http://www.clker.com/cliparts/v/B/7/n/s/8/free-vector-person.sv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320675" y="842228"/>
            <a:ext cx="6799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▶ </a:t>
            </a:r>
            <a:r>
              <a:rPr lang="ko-KR" altLang="en-US" sz="1200" dirty="0" smtClean="0"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소감</a:t>
            </a:r>
            <a:endParaRPr lang="ko-KR" altLang="en-US" sz="1200" dirty="0">
              <a:gradFill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675" y="1771439"/>
            <a:ext cx="924083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</a:t>
            </a:r>
            <a:r>
              <a:rPr lang="ko-KR" altLang="en-US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이번 </a:t>
            </a:r>
            <a:r>
              <a:rPr lang="ko-KR" altLang="en-US" sz="2400" dirty="0" err="1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아두이노</a:t>
            </a:r>
            <a:r>
              <a:rPr lang="ko-KR" altLang="en-US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프로젝트를 통해 모터</a:t>
            </a:r>
            <a:r>
              <a:rPr lang="en-US" altLang="ko-KR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,LCD,</a:t>
            </a:r>
            <a:r>
              <a:rPr lang="ko-KR" altLang="en-US" sz="2400" dirty="0" err="1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부저</a:t>
            </a:r>
            <a:r>
              <a:rPr lang="en-US" altLang="ko-KR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</a:t>
            </a:r>
            <a:r>
              <a:rPr lang="ko-KR" altLang="en-US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초음파 센서 등 부품들의 작동원리와 사용법 등을 알 수 있는 시간이었고</a:t>
            </a:r>
            <a:r>
              <a:rPr lang="en-US" altLang="ko-KR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 </a:t>
            </a:r>
            <a:r>
              <a:rPr lang="ko-KR" altLang="en-US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생각으로만 </a:t>
            </a:r>
            <a:r>
              <a:rPr lang="ko-KR" altLang="en-US" sz="2400" dirty="0" err="1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했던것들을</a:t>
            </a:r>
            <a:r>
              <a:rPr lang="ko-KR" altLang="en-US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실제적으로 만들 수 있어서 값진 </a:t>
            </a:r>
            <a:r>
              <a:rPr lang="ko-KR" altLang="en-US" sz="2400" dirty="0" err="1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시간이였습니다</a:t>
            </a:r>
            <a:r>
              <a:rPr lang="en-US" altLang="ko-KR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.</a:t>
            </a:r>
          </a:p>
          <a:p>
            <a:endParaRPr lang="en-US" altLang="ko-KR" sz="2400" dirty="0" smtClean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</a:t>
            </a:r>
            <a:r>
              <a:rPr lang="ko-KR" altLang="en-US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또한 이번 프로젝트를 통해 어떠한 물건을 </a:t>
            </a:r>
            <a:r>
              <a:rPr lang="ko-KR" altLang="en-US" sz="2400" dirty="0" err="1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만든다는것이</a:t>
            </a:r>
            <a:r>
              <a:rPr lang="ko-KR" altLang="en-US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많은 노력을 필요로 </a:t>
            </a:r>
            <a:r>
              <a:rPr lang="ko-KR" altLang="en-US" sz="2400" dirty="0" err="1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한다는걸</a:t>
            </a:r>
            <a:r>
              <a:rPr lang="ko-KR" altLang="en-US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느낄 수 있는 시간이 되었습니다</a:t>
            </a:r>
            <a:r>
              <a:rPr lang="en-US" altLang="ko-KR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.</a:t>
            </a:r>
          </a:p>
          <a:p>
            <a:endParaRPr lang="en-US" altLang="ko-KR" sz="2400" dirty="0" smtClean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r>
              <a:rPr lang="en-US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</a:t>
            </a:r>
            <a:r>
              <a:rPr lang="ko-KR" altLang="en-US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마지막으로 혼자가 아닌 다른 누군가와 무언가를 </a:t>
            </a:r>
            <a:r>
              <a:rPr lang="ko-KR" altLang="en-US" sz="2400" dirty="0" err="1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하는것에</a:t>
            </a:r>
            <a:r>
              <a:rPr lang="ko-KR" altLang="en-US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있어 서로에 대한 이해 </a:t>
            </a:r>
            <a:r>
              <a:rPr lang="en-US" altLang="ko-KR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 </a:t>
            </a:r>
            <a:r>
              <a:rPr lang="ko-KR" altLang="en-US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배려 등 팀원과 의견을 조율하고 서로의 의견을 배려 하는 법 등 혼자 </a:t>
            </a:r>
            <a:r>
              <a:rPr lang="ko-KR" altLang="en-US" sz="2400" dirty="0" err="1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하는것에만</a:t>
            </a:r>
            <a:r>
              <a:rPr lang="ko-KR" altLang="en-US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익숙했던 저희에게 혼자가 아닌 팀으로 하는 방법을 배울 수 있었던 정말 값진 </a:t>
            </a:r>
            <a:r>
              <a:rPr lang="ko-KR" altLang="en-US" sz="2400" dirty="0" err="1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시간이였습니다</a:t>
            </a:r>
            <a:r>
              <a:rPr lang="en-US" altLang="ko-KR" sz="2400" dirty="0" smtClean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093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5">
      <a:majorFont>
        <a:latin typeface="Raleway"/>
        <a:ea typeface="Noto Sans Korean Regular"/>
        <a:cs typeface=""/>
      </a:majorFont>
      <a:minorFont>
        <a:latin typeface="Raleway"/>
        <a:ea typeface="Noto Sans Korea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5174</TotalTime>
  <Words>899</Words>
  <Application>Microsoft Office PowerPoint</Application>
  <PresentationFormat>A4 용지(210x297mm)</PresentationFormat>
  <Paragraphs>250</Paragraphs>
  <Slides>22</Slides>
  <Notes>0</Notes>
  <HiddenSlides>0</HiddenSlides>
  <MMClips>1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3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ATC_003</dc:creator>
  <cp:lastModifiedBy>임태양</cp:lastModifiedBy>
  <cp:revision>244</cp:revision>
  <cp:lastPrinted>2017-12-18T00:04:24Z</cp:lastPrinted>
  <dcterms:created xsi:type="dcterms:W3CDTF">2015-03-26T09:31:22Z</dcterms:created>
  <dcterms:modified xsi:type="dcterms:W3CDTF">2017-12-17T15:28:49Z</dcterms:modified>
</cp:coreProperties>
</file>